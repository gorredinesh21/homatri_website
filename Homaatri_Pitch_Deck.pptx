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5.jpeg" ContentType="image/jpeg"/>
  <Override PartName="/ppt/media/image14.jpeg" ContentType="image/jpeg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12.jpeg" ContentType="image/jpeg"/>
  <Override PartName="/ppt/media/image10.jpeg" ContentType="image/jpeg"/>
  <Override PartName="/ppt/media/image8.jpeg" ContentType="image/jpeg"/>
  <Override PartName="/ppt/media/image13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Aptos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D2461AE-D7CD-4794-8796-BA523F5FA870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5D26635-FB2F-412A-A2DA-85E3D824B52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2A5E8E-23FE-4CDB-8F9B-D8ADC96E5BF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0FDE32-FE04-4D06-B9B5-A7100EAC33C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490B3E-4F1F-47DC-A413-42A408D83CC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B2FDD0-8F16-4B7B-8008-AA9161B640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D26419-0ED5-4218-B89F-88B3D4D8BDD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5C5F88-7204-4787-B3FB-5E02FC79385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5459C7-0CB8-4247-AEA0-14C49754287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BD2FE8-BE15-4DB1-B722-D93730925FA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9ECD37-1E76-4A9D-BD38-0B46759FCEC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95538B-2E88-4E5E-AFED-D322EEE45A3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1737D5E-CDFF-409C-B77E-073892D32CE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6727472-0234-424E-AAFE-E33CB169526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E9BE32-13B9-48F2-B349-F499CDB0CCD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E5FEEF-6EB5-4738-9AA4-43EA35D22CE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BDCADD8-4CCF-4344-995D-03A92F51748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56FE842-3B7F-47B5-9CD8-127307E3B85B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0F35ECC-204F-4331-9583-0007C18D1F88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30E56DE-FC4D-417E-8598-5C1161A5FEC2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BA4E6C6-7671-4C38-8DC0-FBBCB6A88406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EBF23B4-1DAD-42F1-92CE-E023E840CCFA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FDF3C16-2026-4B66-8F9F-AD25486E102B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02AE36E-059C-4E85-A2A9-39C342AC9B96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F946365-4D05-45B3-B9FC-39C21DA19F0B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09C469D-749B-4FFC-B19F-45FEA443273B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28EB30F-7345-4F18-A4E5-D372B2360CED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7C00BB4-635E-4911-B5DB-98357E52531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Aptos"/>
              </a:rPr>
              <a:t>Click </a:t>
            </a:r>
            <a:r>
              <a:rPr b="0" lang="en-IN" sz="1800" spc="-1" strike="noStrike">
                <a:solidFill>
                  <a:srgbClr val="000000"/>
                </a:solidFill>
                <a:latin typeface="Aptos"/>
              </a:rPr>
              <a:t>to </a:t>
            </a:r>
            <a:r>
              <a:rPr b="0" lang="en-IN" sz="1800" spc="-1" strike="noStrike">
                <a:solidFill>
                  <a:srgbClr val="000000"/>
                </a:solidFill>
                <a:latin typeface="Aptos"/>
              </a:rPr>
              <a:t>edit </a:t>
            </a:r>
            <a:r>
              <a:rPr b="0" lang="en-IN" sz="1800" spc="-1" strike="noStrike">
                <a:solidFill>
                  <a:srgbClr val="000000"/>
                </a:solidFill>
                <a:latin typeface="Aptos"/>
              </a:rPr>
              <a:t>the </a:t>
            </a:r>
            <a:r>
              <a:rPr b="0" lang="en-IN" sz="1800" spc="-1" strike="noStrike">
                <a:solidFill>
                  <a:srgbClr val="000000"/>
                </a:solidFill>
                <a:latin typeface="Aptos"/>
              </a:rPr>
              <a:t>title </a:t>
            </a:r>
            <a:r>
              <a:rPr b="0" lang="en-IN" sz="1800" spc="-1" strike="noStrike">
                <a:solidFill>
                  <a:srgbClr val="000000"/>
                </a:solidFill>
                <a:latin typeface="Aptos"/>
              </a:rPr>
              <a:t>text </a:t>
            </a:r>
            <a:r>
              <a:rPr b="0" lang="en-IN" sz="1800" spc="-1" strike="noStrike">
                <a:solidFill>
                  <a:srgbClr val="000000"/>
                </a:solidFill>
                <a:latin typeface="Aptos"/>
              </a:rPr>
              <a:t>form</a:t>
            </a:r>
            <a:r>
              <a:rPr b="0" lang="en-IN" sz="1800" spc="-1" strike="noStrike">
                <a:solidFill>
                  <a:srgbClr val="000000"/>
                </a:solidFill>
                <a:latin typeface="Aptos"/>
              </a:rPr>
              <a:t>at</a:t>
            </a:r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" name="PlaceHolder 1"/>
          <p:cNvSpPr>
            <a:spLocks noGrp="1"/>
          </p:cNvSpPr>
          <p:nvPr>
            <p:ph type="sldNum" idx="1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5D3FA99B-EAE7-48CF-9712-CC351B35CEF4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&lt;number&gt;</a:t>
            </a:fld>
            <a:endParaRPr b="0" lang="en-IN" sz="800" spc="-1" strike="noStrike"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Aptos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3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567000" y="475560"/>
            <a:ext cx="11063880" cy="5897520"/>
          </a:xfrm>
          <a:prstGeom prst="roundRect">
            <a:avLst>
              <a:gd name="adj" fmla="val 1860"/>
            </a:avLst>
          </a:prstGeom>
          <a:solidFill>
            <a:srgbClr val="8f220e"/>
          </a:solidFill>
          <a:ln w="12700">
            <a:solidFill>
              <a:srgbClr val="8f220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5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896040" y="868680"/>
            <a:ext cx="1325520" cy="1325520"/>
          </a:xfrm>
          <a:prstGeom prst="rect">
            <a:avLst/>
          </a:prstGeom>
          <a:ln w="0">
            <a:noFill/>
          </a:ln>
        </p:spPr>
      </p:pic>
      <p:sp>
        <p:nvSpPr>
          <p:cNvPr id="86" name="Text 1"/>
          <p:cNvSpPr/>
          <p:nvPr/>
        </p:nvSpPr>
        <p:spPr>
          <a:xfrm>
            <a:off x="932760" y="2606040"/>
            <a:ext cx="7954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Great home food exists.</a:t>
            </a:r>
            <a:endParaRPr b="0" lang="en-IN" sz="3100" spc="-1" strike="noStrike"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932760" y="3200400"/>
            <a:ext cx="7954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f7e2d9"/>
                </a:solidFill>
                <a:latin typeface="Aptos Display"/>
                <a:ea typeface="Aptos Display"/>
              </a:rPr>
              <a:t>But the ecosystem around it is broken.</a:t>
            </a:r>
            <a:endParaRPr b="0" lang="en-IN" sz="2300" spc="-1" strike="noStrike"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951120" y="3977640"/>
            <a:ext cx="6720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The homemaker has the craft.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The customer has the demand.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What is missing is a trusted, efficient system connecting them.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9" name="Shape 4"/>
          <p:cNvSpPr/>
          <p:nvPr/>
        </p:nvSpPr>
        <p:spPr>
          <a:xfrm>
            <a:off x="8549640" y="5257800"/>
            <a:ext cx="2239920" cy="32868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5"/>
          <p:cNvSpPr/>
          <p:nvPr/>
        </p:nvSpPr>
        <p:spPr>
          <a:xfrm>
            <a:off x="8549640" y="5330880"/>
            <a:ext cx="2239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d33313"/>
                </a:solidFill>
                <a:latin typeface="Aptos"/>
                <a:ea typeface="Aptos"/>
              </a:rPr>
              <a:t>ACHHA KHAO. GHAR KA KHAO.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8613720" y="5870520"/>
            <a:ext cx="2559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58" strike="noStrike">
                <a:solidFill>
                  <a:srgbClr val="f7e2d9"/>
                </a:solidFill>
                <a:latin typeface="Aptos"/>
                <a:ea typeface="Aptos"/>
              </a:rPr>
              <a:t>YOUR KITCHEN, YOUR BUSINESS.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93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00 • WHAT IS HOMAATRI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Homaatri is a managed tiffin platform built around homemakers.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594360" y="1389960"/>
            <a:ext cx="10606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7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We help homemakers build their food businesses — while Homaatri takes care of trust, standards, recurring ordering and delivery for customers.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594360" y="2011680"/>
            <a:ext cx="3428640" cy="31543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" name="Shape 4"/>
          <p:cNvSpPr/>
          <p:nvPr/>
        </p:nvSpPr>
        <p:spPr>
          <a:xfrm>
            <a:off x="594360" y="2011680"/>
            <a:ext cx="63720" cy="315432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5"/>
          <p:cNvSpPr/>
          <p:nvPr/>
        </p:nvSpPr>
        <p:spPr>
          <a:xfrm>
            <a:off x="758880" y="2148840"/>
            <a:ext cx="313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69" strike="noStrike">
                <a:solidFill>
                  <a:srgbClr val="d33313"/>
                </a:solidFill>
                <a:latin typeface="Aptos"/>
                <a:ea typeface="Aptos"/>
              </a:rPr>
              <a:t>FOR HOMEMAKERS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758880" y="2423160"/>
            <a:ext cx="31359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Build the brand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Create &amp; grow content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Know demand in advance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Manage the business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4380120" y="2011680"/>
            <a:ext cx="3428640" cy="31543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8"/>
          <p:cNvSpPr/>
          <p:nvPr/>
        </p:nvSpPr>
        <p:spPr>
          <a:xfrm>
            <a:off x="4380120" y="2011680"/>
            <a:ext cx="63720" cy="3154320"/>
          </a:xfrm>
          <a:prstGeom prst="rect">
            <a:avLst/>
          </a:prstGeom>
          <a:solidFill>
            <a:srgbClr val="4d6b57"/>
          </a:solidFill>
          <a:ln w="12700">
            <a:solidFill>
              <a:srgbClr val="4d6b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9"/>
          <p:cNvSpPr/>
          <p:nvPr/>
        </p:nvSpPr>
        <p:spPr>
          <a:xfrm>
            <a:off x="4544640" y="2148840"/>
            <a:ext cx="313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69" strike="noStrike">
                <a:solidFill>
                  <a:srgbClr val="4d6b57"/>
                </a:solidFill>
                <a:latin typeface="Aptos"/>
                <a:ea typeface="Aptos"/>
              </a:rPr>
              <a:t>FOR CUSTOMERS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4544640" y="2423160"/>
            <a:ext cx="31359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Discover trusted homemakers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Choose lunch &amp; dinner plans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Receive reliable home food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Know Homaatri stands behind the experience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8165520" y="2011680"/>
            <a:ext cx="3428640" cy="31543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Shape 12"/>
          <p:cNvSpPr/>
          <p:nvPr/>
        </p:nvSpPr>
        <p:spPr>
          <a:xfrm>
            <a:off x="8165520" y="2011680"/>
            <a:ext cx="63720" cy="3154320"/>
          </a:xfrm>
          <a:prstGeom prst="rect">
            <a:avLst/>
          </a:prstGeom>
          <a:solidFill>
            <a:srgbClr val="4d5f78"/>
          </a:solidFill>
          <a:ln w="12700">
            <a:solidFill>
              <a:srgbClr val="4d5f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13"/>
          <p:cNvSpPr/>
          <p:nvPr/>
        </p:nvSpPr>
        <p:spPr>
          <a:xfrm>
            <a:off x="8330040" y="2148840"/>
            <a:ext cx="313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69" strike="noStrike">
                <a:solidFill>
                  <a:srgbClr val="4d5f78"/>
                </a:solidFill>
                <a:latin typeface="Aptos"/>
                <a:ea typeface="Aptos"/>
              </a:rPr>
              <a:t>HOMAATRI’S ROLE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8330040" y="2423160"/>
            <a:ext cx="31359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Brand + support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Standards + verification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Recurring commerce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Delivery + customer experience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8" name="Shape 15"/>
          <p:cNvSpPr/>
          <p:nvPr/>
        </p:nvSpPr>
        <p:spPr>
          <a:xfrm>
            <a:off x="1371600" y="5504760"/>
            <a:ext cx="9326520" cy="529920"/>
          </a:xfrm>
          <a:prstGeom prst="roundRect">
            <a:avLst>
              <a:gd name="adj" fmla="val 13793"/>
            </a:avLst>
          </a:prstGeom>
          <a:solidFill>
            <a:srgbClr val="f5e8e0"/>
          </a:solidFill>
          <a:ln w="12700">
            <a:solidFill>
              <a:srgbClr val="e8d4c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6"/>
          <p:cNvSpPr/>
          <p:nvPr/>
        </p:nvSpPr>
        <p:spPr>
          <a:xfrm>
            <a:off x="1600200" y="566028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You focus on your craft. Homaatri builds the business — and owns the experience around it.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sldNum" idx="5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6960872B-1FF5-4A35-BA15-A75E54F979C3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2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114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01 • THE PROBLEM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Great home food exists. But the ecosystem around it is broken.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612720" y="157284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The two sides need each other — but today they meet through fragmented, informal systems.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7" name="Shape 3"/>
          <p:cNvSpPr/>
          <p:nvPr/>
        </p:nvSpPr>
        <p:spPr>
          <a:xfrm>
            <a:off x="594360" y="2148840"/>
            <a:ext cx="5166000" cy="32457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Shape 4"/>
          <p:cNvSpPr/>
          <p:nvPr/>
        </p:nvSpPr>
        <p:spPr>
          <a:xfrm>
            <a:off x="594360" y="2148840"/>
            <a:ext cx="63720" cy="324576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5"/>
          <p:cNvSpPr/>
          <p:nvPr/>
        </p:nvSpPr>
        <p:spPr>
          <a:xfrm>
            <a:off x="758880" y="2286000"/>
            <a:ext cx="4873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8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69" strike="noStrike">
                <a:solidFill>
                  <a:srgbClr val="d33313"/>
                </a:solidFill>
                <a:latin typeface="Aptos"/>
                <a:ea typeface="Aptos"/>
              </a:rPr>
              <a:t>HOMEMAKERS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758880" y="2560320"/>
            <a:ext cx="48733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4211f"/>
                </a:solidFill>
                <a:latin typeface="Aptos"/>
                <a:ea typeface="Aptos"/>
              </a:rPr>
              <a:t>Have the craft, the story and the ambition — but not the business infrastructure, predictable demand or operational support.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6428160" y="2148840"/>
            <a:ext cx="5166000" cy="32457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2" name="Shape 8"/>
          <p:cNvSpPr/>
          <p:nvPr/>
        </p:nvSpPr>
        <p:spPr>
          <a:xfrm>
            <a:off x="6428160" y="2148840"/>
            <a:ext cx="63720" cy="3245760"/>
          </a:xfrm>
          <a:prstGeom prst="rect">
            <a:avLst/>
          </a:prstGeom>
          <a:solidFill>
            <a:srgbClr val="4d6b57"/>
          </a:solidFill>
          <a:ln w="12700">
            <a:solidFill>
              <a:srgbClr val="4d6b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9"/>
          <p:cNvSpPr/>
          <p:nvPr/>
        </p:nvSpPr>
        <p:spPr>
          <a:xfrm>
            <a:off x="6592680" y="2286000"/>
            <a:ext cx="4873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8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69" strike="noStrike">
                <a:solidFill>
                  <a:srgbClr val="4d6b57"/>
                </a:solidFill>
                <a:latin typeface="Aptos"/>
                <a:ea typeface="Aptos"/>
              </a:rPr>
              <a:t>CUSTOMERS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6592680" y="2560320"/>
            <a:ext cx="48733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4211f"/>
                </a:solidFill>
                <a:latin typeface="Aptos"/>
                <a:ea typeface="Aptos"/>
              </a:rPr>
              <a:t>Want authentic home food — but need trust, consistency, standards, reliable delivery and accountability.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5" name="Shape 11"/>
          <p:cNvSpPr/>
          <p:nvPr/>
        </p:nvSpPr>
        <p:spPr>
          <a:xfrm>
            <a:off x="2331720" y="5687640"/>
            <a:ext cx="7497720" cy="456840"/>
          </a:xfrm>
          <a:prstGeom prst="roundRect">
            <a:avLst>
              <a:gd name="adj" fmla="val 16000"/>
            </a:avLst>
          </a:prstGeom>
          <a:solidFill>
            <a:srgbClr val="24211f"/>
          </a:solidFill>
          <a:ln w="12700">
            <a:solidFill>
              <a:srgbClr val="24211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12"/>
          <p:cNvSpPr/>
          <p:nvPr/>
        </p:nvSpPr>
        <p:spPr>
          <a:xfrm>
            <a:off x="2514600" y="5815440"/>
            <a:ext cx="7131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ptos"/>
                <a:ea typeface="Aptos"/>
              </a:rPr>
              <a:t>What is missing is the trusted, efficient layer connecting them.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28" name="Text 14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sldNum" idx="6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FE1562CC-2396-434B-8670-1A5A9142EF36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3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131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02 • THE MODEL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On-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dema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nd 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delive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ry is 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built 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for 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impul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se. 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Tiffin 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is 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built 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for 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routin</a:t>
            </a: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e.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594360" y="1389960"/>
            <a:ext cx="10606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Homaatri is not trying </a:t>
            </a: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to win the fastest </a:t>
            </a: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single delivery — we </a:t>
            </a: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are designing around </a:t>
            </a: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recurring lunch and </a:t>
            </a: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dinner demand.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594360" y="2011680"/>
            <a:ext cx="5211720" cy="3611520"/>
          </a:xfrm>
          <a:prstGeom prst="roundRect">
            <a:avLst>
              <a:gd name="adj" fmla="val 2025"/>
            </a:avLst>
          </a:prstGeom>
          <a:solidFill>
            <a:srgbClr val="efeae5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4"/>
          <p:cNvSpPr/>
          <p:nvPr/>
        </p:nvSpPr>
        <p:spPr>
          <a:xfrm>
            <a:off x="822960" y="2286000"/>
            <a:ext cx="3017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77" strike="noStrike">
                <a:solidFill>
                  <a:srgbClr val="24211f"/>
                </a:solidFill>
                <a:latin typeface="Aptos"/>
                <a:ea typeface="Aptos"/>
              </a:rPr>
              <a:t>ZOMATO-STYLE / ON-</a:t>
            </a:r>
            <a:r>
              <a:rPr b="1" lang="en-US" sz="900" spc="77" strike="noStrike">
                <a:solidFill>
                  <a:srgbClr val="24211f"/>
                </a:solidFill>
                <a:latin typeface="Aptos"/>
                <a:ea typeface="Aptos"/>
              </a:rPr>
              <a:t>DEMAND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868680" y="2724840"/>
            <a:ext cx="452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Unpredictable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demand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868680" y="3246120"/>
            <a:ext cx="452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Orders arrive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individually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868680" y="3767400"/>
            <a:ext cx="452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Individual preparation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868680" y="4288680"/>
            <a:ext cx="452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Individual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delivery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journeys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868680" y="4809600"/>
            <a:ext cx="452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Higher delivery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complexity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6355080" y="2011680"/>
            <a:ext cx="5230080" cy="3611520"/>
          </a:xfrm>
          <a:prstGeom prst="roundRect">
            <a:avLst>
              <a:gd name="adj" fmla="val 2025"/>
            </a:avLst>
          </a:prstGeom>
          <a:solidFill>
            <a:srgbClr val="f5e8e0"/>
          </a:solidFill>
          <a:ln w="12700">
            <a:solidFill>
              <a:srgbClr val="e6c9b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1"/>
          <p:cNvSpPr/>
          <p:nvPr/>
        </p:nvSpPr>
        <p:spPr>
          <a:xfrm>
            <a:off x="6583680" y="228600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77" strike="noStrike">
                <a:solidFill>
                  <a:srgbClr val="d33313"/>
                </a:solidFill>
                <a:latin typeface="Aptos"/>
                <a:ea typeface="Aptos"/>
              </a:rPr>
              <a:t>HOMAATRI / TIFFIN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6629400" y="2724840"/>
            <a:ext cx="452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Recurring,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predictable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demand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6629400" y="3246120"/>
            <a:ext cx="452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Known lunch &amp;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dinner quantities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6629400" y="3767400"/>
            <a:ext cx="452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Planned preparation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6629400" y="4288680"/>
            <a:ext cx="452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Batch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pickup +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route-dense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delivery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6629400" y="4809600"/>
            <a:ext cx="4525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Lower operational </a:t>
            </a:r>
            <a:r>
              <a:rPr b="0" lang="en-US" sz="1200" spc="-1" strike="noStrike">
                <a:solidFill>
                  <a:srgbClr val="24211f"/>
                </a:solidFill>
                <a:latin typeface="Aptos"/>
                <a:ea typeface="Aptos"/>
              </a:rPr>
              <a:t>uncertainty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2176200" y="5806440"/>
            <a:ext cx="7845120" cy="475200"/>
          </a:xfrm>
          <a:prstGeom prst="roundRect">
            <a:avLst>
              <a:gd name="adj" fmla="val 15385"/>
            </a:avLst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8"/>
          <p:cNvSpPr/>
          <p:nvPr/>
        </p:nvSpPr>
        <p:spPr>
          <a:xfrm>
            <a:off x="2377440" y="5934600"/>
            <a:ext cx="7406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We optimize for </a:t>
            </a: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predictable </a:t>
            </a: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recurring meals — </a:t>
            </a: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not impulse </a:t>
            </a: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ordering.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</a:t>
            </a: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sldNum" idx="7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5082F113-7DCB-4B79-9FB0-7D076FC0AAFC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4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154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03 • THE HOMEMAKER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She knows how to cook. Building the business is a completely different job.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594360" y="1389960"/>
            <a:ext cx="10606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A talented homemaker who wants to sell her food suddenly has to become an entire business team.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594360" y="2011680"/>
            <a:ext cx="2925720" cy="3565800"/>
          </a:xfrm>
          <a:prstGeom prst="roundRect">
            <a:avLst>
              <a:gd name="adj" fmla="val 2500"/>
            </a:avLst>
          </a:prstGeom>
          <a:solidFill>
            <a:srgbClr val="f5e8e0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Shape 4"/>
          <p:cNvSpPr/>
          <p:nvPr/>
        </p:nvSpPr>
        <p:spPr>
          <a:xfrm>
            <a:off x="594360" y="2011680"/>
            <a:ext cx="63720" cy="356580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5"/>
          <p:cNvSpPr/>
          <p:nvPr/>
        </p:nvSpPr>
        <p:spPr>
          <a:xfrm>
            <a:off x="758880" y="2148840"/>
            <a:ext cx="2633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8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69" strike="noStrike">
                <a:solidFill>
                  <a:srgbClr val="d33313"/>
                </a:solidFill>
                <a:latin typeface="Aptos"/>
                <a:ea typeface="Aptos"/>
              </a:rPr>
              <a:t>HER CRAFT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758880" y="2423160"/>
            <a:ext cx="263304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Great food.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A personal story.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A reason to start.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4211f"/>
                </a:solidFill>
                <a:latin typeface="Aptos"/>
                <a:ea typeface="Aptos"/>
              </a:rPr>
              <a:t>But the business around it is fragmented.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3794760" y="2030040"/>
            <a:ext cx="3529080" cy="94140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Shape 8"/>
          <p:cNvSpPr/>
          <p:nvPr/>
        </p:nvSpPr>
        <p:spPr>
          <a:xfrm>
            <a:off x="3794760" y="2030040"/>
            <a:ext cx="63720" cy="94140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9"/>
          <p:cNvSpPr/>
          <p:nvPr/>
        </p:nvSpPr>
        <p:spPr>
          <a:xfrm>
            <a:off x="3959280" y="2167200"/>
            <a:ext cx="3236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69" strike="noStrike">
                <a:solidFill>
                  <a:srgbClr val="d33313"/>
                </a:solidFill>
                <a:latin typeface="Aptos"/>
                <a:ea typeface="Aptos"/>
              </a:rPr>
              <a:t>BRAND</a:t>
            </a:r>
            <a:endParaRPr b="0" lang="en-IN" sz="920" spc="-1" strike="noStrike"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3959280" y="2441520"/>
            <a:ext cx="3236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40" spc="-1" strike="noStrike">
                <a:solidFill>
                  <a:srgbClr val="24211f"/>
                </a:solidFill>
                <a:latin typeface="Aptos"/>
                <a:ea typeface="Aptos"/>
              </a:rPr>
              <a:t>What should my business look like?</a:t>
            </a:r>
            <a:endParaRPr b="0" lang="en-IN" sz="1040" spc="-1" strike="noStrike"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7616880" y="2030040"/>
            <a:ext cx="3529080" cy="94140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Shape 12"/>
          <p:cNvSpPr/>
          <p:nvPr/>
        </p:nvSpPr>
        <p:spPr>
          <a:xfrm>
            <a:off x="7616880" y="2030040"/>
            <a:ext cx="63720" cy="94140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3"/>
          <p:cNvSpPr/>
          <p:nvPr/>
        </p:nvSpPr>
        <p:spPr>
          <a:xfrm>
            <a:off x="7781400" y="2167200"/>
            <a:ext cx="3236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69" strike="noStrike">
                <a:solidFill>
                  <a:srgbClr val="d33313"/>
                </a:solidFill>
                <a:latin typeface="Aptos"/>
                <a:ea typeface="Aptos"/>
              </a:rPr>
              <a:t>CONTENT</a:t>
            </a:r>
            <a:endParaRPr b="0" lang="en-IN" sz="920" spc="-1" strike="noStrike">
              <a:latin typeface="Arial"/>
            </a:endParaRPr>
          </a:p>
        </p:txBody>
      </p:sp>
      <p:sp>
        <p:nvSpPr>
          <p:cNvPr id="168" name="Text 14"/>
          <p:cNvSpPr/>
          <p:nvPr/>
        </p:nvSpPr>
        <p:spPr>
          <a:xfrm>
            <a:off x="7781400" y="2441520"/>
            <a:ext cx="3236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40" spc="-1" strike="noStrike">
                <a:solidFill>
                  <a:srgbClr val="24211f"/>
                </a:solidFill>
                <a:latin typeface="Aptos"/>
                <a:ea typeface="Aptos"/>
              </a:rPr>
              <a:t>What should I post? How do I make reels?</a:t>
            </a:r>
            <a:endParaRPr b="0" lang="en-IN" sz="1040" spc="-1" strike="noStrike">
              <a:latin typeface="Arial"/>
            </a:endParaRPr>
          </a:p>
        </p:txBody>
      </p:sp>
      <p:sp>
        <p:nvSpPr>
          <p:cNvPr id="169" name="Shape 15"/>
          <p:cNvSpPr/>
          <p:nvPr/>
        </p:nvSpPr>
        <p:spPr>
          <a:xfrm>
            <a:off x="3794760" y="3200400"/>
            <a:ext cx="3529080" cy="94140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0" name="Shape 16"/>
          <p:cNvSpPr/>
          <p:nvPr/>
        </p:nvSpPr>
        <p:spPr>
          <a:xfrm>
            <a:off x="3794760" y="3200400"/>
            <a:ext cx="63720" cy="94140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17"/>
          <p:cNvSpPr/>
          <p:nvPr/>
        </p:nvSpPr>
        <p:spPr>
          <a:xfrm>
            <a:off x="3959280" y="3337560"/>
            <a:ext cx="3236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69" strike="noStrike">
                <a:solidFill>
                  <a:srgbClr val="d33313"/>
                </a:solidFill>
                <a:latin typeface="Aptos"/>
                <a:ea typeface="Aptos"/>
              </a:rPr>
              <a:t>CUSTOMERS</a:t>
            </a:r>
            <a:endParaRPr b="0" lang="en-IN" sz="920" spc="-1" strike="noStrike">
              <a:latin typeface="Arial"/>
            </a:endParaRPr>
          </a:p>
        </p:txBody>
      </p:sp>
      <p:sp>
        <p:nvSpPr>
          <p:cNvPr id="172" name="Text 18"/>
          <p:cNvSpPr/>
          <p:nvPr/>
        </p:nvSpPr>
        <p:spPr>
          <a:xfrm>
            <a:off x="3959280" y="3611880"/>
            <a:ext cx="3236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40" spc="-1" strike="noStrike">
                <a:solidFill>
                  <a:srgbClr val="24211f"/>
                </a:solidFill>
                <a:latin typeface="Aptos"/>
                <a:ea typeface="Aptos"/>
              </a:rPr>
              <a:t>Where will customers come from?</a:t>
            </a:r>
            <a:endParaRPr b="0" lang="en-IN" sz="1040" spc="-1" strike="noStrike">
              <a:latin typeface="Arial"/>
            </a:endParaRPr>
          </a:p>
        </p:txBody>
      </p:sp>
      <p:sp>
        <p:nvSpPr>
          <p:cNvPr id="173" name="Shape 19"/>
          <p:cNvSpPr/>
          <p:nvPr/>
        </p:nvSpPr>
        <p:spPr>
          <a:xfrm>
            <a:off x="7616880" y="3200400"/>
            <a:ext cx="3529080" cy="94140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4" name="Shape 20"/>
          <p:cNvSpPr/>
          <p:nvPr/>
        </p:nvSpPr>
        <p:spPr>
          <a:xfrm>
            <a:off x="7616880" y="3200400"/>
            <a:ext cx="63720" cy="94140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21"/>
          <p:cNvSpPr/>
          <p:nvPr/>
        </p:nvSpPr>
        <p:spPr>
          <a:xfrm>
            <a:off x="7781400" y="3337560"/>
            <a:ext cx="3236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69" strike="noStrike">
                <a:solidFill>
                  <a:srgbClr val="d33313"/>
                </a:solidFill>
                <a:latin typeface="Aptos"/>
                <a:ea typeface="Aptos"/>
              </a:rPr>
              <a:t>OPERATIONS</a:t>
            </a:r>
            <a:endParaRPr b="0" lang="en-IN" sz="920" spc="-1" strike="noStrike">
              <a:latin typeface="Arial"/>
            </a:endParaRPr>
          </a:p>
        </p:txBody>
      </p:sp>
      <p:sp>
        <p:nvSpPr>
          <p:cNvPr id="176" name="Text 22"/>
          <p:cNvSpPr/>
          <p:nvPr/>
        </p:nvSpPr>
        <p:spPr>
          <a:xfrm>
            <a:off x="7781400" y="3611880"/>
            <a:ext cx="3236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40" spc="-1" strike="noStrike">
                <a:solidFill>
                  <a:srgbClr val="24211f"/>
                </a:solidFill>
                <a:latin typeface="Aptos"/>
                <a:ea typeface="Aptos"/>
              </a:rPr>
              <a:t>How much should I cook? How do I manage menus, orders and fulfillment?</a:t>
            </a:r>
            <a:endParaRPr b="0" lang="en-IN" sz="1040" spc="-1" strike="noStrike">
              <a:latin typeface="Arial"/>
            </a:endParaRPr>
          </a:p>
        </p:txBody>
      </p:sp>
      <p:sp>
        <p:nvSpPr>
          <p:cNvPr id="177" name="Shape 23"/>
          <p:cNvSpPr/>
          <p:nvPr/>
        </p:nvSpPr>
        <p:spPr>
          <a:xfrm>
            <a:off x="3794760" y="4370760"/>
            <a:ext cx="3529080" cy="94140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24"/>
          <p:cNvSpPr/>
          <p:nvPr/>
        </p:nvSpPr>
        <p:spPr>
          <a:xfrm>
            <a:off x="3794760" y="4370760"/>
            <a:ext cx="63720" cy="94140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5"/>
          <p:cNvSpPr/>
          <p:nvPr/>
        </p:nvSpPr>
        <p:spPr>
          <a:xfrm>
            <a:off x="3959280" y="4507920"/>
            <a:ext cx="3236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69" strike="noStrike">
                <a:solidFill>
                  <a:srgbClr val="d33313"/>
                </a:solidFill>
                <a:latin typeface="Aptos"/>
                <a:ea typeface="Aptos"/>
              </a:rPr>
              <a:t>FINANCE</a:t>
            </a:r>
            <a:endParaRPr b="0" lang="en-IN" sz="920" spc="-1" strike="noStrike">
              <a:latin typeface="Arial"/>
            </a:endParaRPr>
          </a:p>
        </p:txBody>
      </p:sp>
      <p:sp>
        <p:nvSpPr>
          <p:cNvPr id="180" name="Text 26"/>
          <p:cNvSpPr/>
          <p:nvPr/>
        </p:nvSpPr>
        <p:spPr>
          <a:xfrm>
            <a:off x="3959280" y="4782240"/>
            <a:ext cx="3236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40" spc="-1" strike="noStrike">
                <a:solidFill>
                  <a:srgbClr val="24211f"/>
                </a:solidFill>
                <a:latin typeface="Aptos"/>
                <a:ea typeface="Aptos"/>
              </a:rPr>
              <a:t>Am I actually making money?</a:t>
            </a:r>
            <a:endParaRPr b="0" lang="en-IN" sz="1040" spc="-1" strike="noStrike">
              <a:latin typeface="Arial"/>
            </a:endParaRPr>
          </a:p>
        </p:txBody>
      </p:sp>
      <p:sp>
        <p:nvSpPr>
          <p:cNvPr id="181" name="Shape 27"/>
          <p:cNvSpPr/>
          <p:nvPr/>
        </p:nvSpPr>
        <p:spPr>
          <a:xfrm>
            <a:off x="7616880" y="4370760"/>
            <a:ext cx="3529080" cy="94140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Shape 28"/>
          <p:cNvSpPr/>
          <p:nvPr/>
        </p:nvSpPr>
        <p:spPr>
          <a:xfrm>
            <a:off x="7616880" y="4370760"/>
            <a:ext cx="63720" cy="94140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29"/>
          <p:cNvSpPr/>
          <p:nvPr/>
        </p:nvSpPr>
        <p:spPr>
          <a:xfrm>
            <a:off x="7781400" y="4507920"/>
            <a:ext cx="3236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20" spc="69" strike="noStrike">
                <a:solidFill>
                  <a:srgbClr val="d33313"/>
                </a:solidFill>
                <a:latin typeface="Aptos"/>
                <a:ea typeface="Aptos"/>
              </a:rPr>
              <a:t>GROWTH</a:t>
            </a:r>
            <a:endParaRPr b="0" lang="en-IN" sz="920" spc="-1" strike="noStrike">
              <a:latin typeface="Arial"/>
            </a:endParaRPr>
          </a:p>
        </p:txBody>
      </p:sp>
      <p:sp>
        <p:nvSpPr>
          <p:cNvPr id="184" name="Text 30"/>
          <p:cNvSpPr/>
          <p:nvPr/>
        </p:nvSpPr>
        <p:spPr>
          <a:xfrm>
            <a:off x="7781400" y="4782240"/>
            <a:ext cx="3236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40" spc="-1" strike="noStrike">
                <a:solidFill>
                  <a:srgbClr val="24211f"/>
                </a:solidFill>
                <a:latin typeface="Aptos"/>
                <a:ea typeface="Aptos"/>
              </a:rPr>
              <a:t>How do I turn this into a real business?</a:t>
            </a:r>
            <a:endParaRPr b="0" lang="en-IN" sz="1040" spc="-1" strike="noStrike">
              <a:latin typeface="Arial"/>
            </a:endParaRPr>
          </a:p>
        </p:txBody>
      </p:sp>
      <p:sp>
        <p:nvSpPr>
          <p:cNvPr id="185" name="Text 31"/>
          <p:cNvSpPr/>
          <p:nvPr/>
        </p:nvSpPr>
        <p:spPr>
          <a:xfrm>
            <a:off x="3794760" y="5623560"/>
            <a:ext cx="7406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d33313"/>
                </a:solidFill>
                <a:latin typeface="Aptos Display"/>
                <a:ea typeface="Aptos Display"/>
              </a:rPr>
              <a:t>She has the craft. She is being asked to build the entire business around it — mostly on her own.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6" name="Text 32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87" name="Text 33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sldNum" idx="8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36789069-3250-4EF5-A031-DC644F7F1727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&lt;number&gt;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190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04 • THE CUSTOMER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Customers want the warmth of home food — without the uncertainty.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594360" y="1389960"/>
            <a:ext cx="10606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The daily meal use case is about trust, consistency and reliability — not just discovery.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594360" y="2011680"/>
            <a:ext cx="513864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4" name="Shape 4"/>
          <p:cNvSpPr/>
          <p:nvPr/>
        </p:nvSpPr>
        <p:spPr>
          <a:xfrm>
            <a:off x="594360" y="2011680"/>
            <a:ext cx="63720" cy="895680"/>
          </a:xfrm>
          <a:prstGeom prst="rect">
            <a:avLst/>
          </a:prstGeom>
          <a:solidFill>
            <a:srgbClr val="4d6b57"/>
          </a:solidFill>
          <a:ln w="12700">
            <a:solidFill>
              <a:srgbClr val="4d6b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5"/>
          <p:cNvSpPr/>
          <p:nvPr/>
        </p:nvSpPr>
        <p:spPr>
          <a:xfrm>
            <a:off x="758880" y="214884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39" spc="69" strike="noStrike">
                <a:solidFill>
                  <a:srgbClr val="4d6b57"/>
                </a:solidFill>
                <a:latin typeface="Aptos"/>
                <a:ea typeface="Aptos"/>
              </a:rPr>
              <a:t>DISCOVERY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758880" y="2423160"/>
            <a:ext cx="48459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" spc="-1" strike="noStrike">
                <a:solidFill>
                  <a:srgbClr val="24211f"/>
                </a:solidFill>
                <a:latin typeface="Aptos"/>
                <a:ea typeface="Aptos"/>
              </a:rPr>
              <a:t>How do I find good home food nearby?</a:t>
            </a:r>
            <a:endParaRPr b="0" lang="en-IN" sz="1120" spc="-1" strike="noStrike"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6236280" y="2011680"/>
            <a:ext cx="513864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8" name="Shape 8"/>
          <p:cNvSpPr/>
          <p:nvPr/>
        </p:nvSpPr>
        <p:spPr>
          <a:xfrm>
            <a:off x="6236280" y="2011680"/>
            <a:ext cx="63720" cy="895680"/>
          </a:xfrm>
          <a:prstGeom prst="rect">
            <a:avLst/>
          </a:prstGeom>
          <a:solidFill>
            <a:srgbClr val="4d5f78"/>
          </a:solidFill>
          <a:ln w="12700">
            <a:solidFill>
              <a:srgbClr val="4d5f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9"/>
          <p:cNvSpPr/>
          <p:nvPr/>
        </p:nvSpPr>
        <p:spPr>
          <a:xfrm>
            <a:off x="6400800" y="214884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39" spc="69" strike="noStrike">
                <a:solidFill>
                  <a:srgbClr val="4d5f78"/>
                </a:solidFill>
                <a:latin typeface="Aptos"/>
                <a:ea typeface="Aptos"/>
              </a:rPr>
              <a:t>IDENTITY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6400800" y="2423160"/>
            <a:ext cx="48459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" spc="-1" strike="noStrike">
                <a:solidFill>
                  <a:srgbClr val="24211f"/>
                </a:solidFill>
                <a:latin typeface="Aptos"/>
                <a:ea typeface="Aptos"/>
              </a:rPr>
              <a:t>Who am I actually buying from?</a:t>
            </a:r>
            <a:endParaRPr b="0" lang="en-IN" sz="1120" spc="-1" strike="noStrike"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594360" y="3090600"/>
            <a:ext cx="513864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12"/>
          <p:cNvSpPr/>
          <p:nvPr/>
        </p:nvSpPr>
        <p:spPr>
          <a:xfrm>
            <a:off x="594360" y="3090600"/>
            <a:ext cx="63720" cy="895680"/>
          </a:xfrm>
          <a:prstGeom prst="rect">
            <a:avLst/>
          </a:prstGeom>
          <a:solidFill>
            <a:srgbClr val="4d6b57"/>
          </a:solidFill>
          <a:ln w="12700">
            <a:solidFill>
              <a:srgbClr val="4d6b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3"/>
          <p:cNvSpPr/>
          <p:nvPr/>
        </p:nvSpPr>
        <p:spPr>
          <a:xfrm>
            <a:off x="758880" y="322776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39" spc="69" strike="noStrike">
                <a:solidFill>
                  <a:srgbClr val="4d6b57"/>
                </a:solidFill>
                <a:latin typeface="Aptos"/>
                <a:ea typeface="Aptos"/>
              </a:rPr>
              <a:t>HYGIENE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758880" y="3502080"/>
            <a:ext cx="48459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" spc="-1" strike="noStrike">
                <a:solidFill>
                  <a:srgbClr val="24211f"/>
                </a:solidFill>
                <a:latin typeface="Aptos"/>
                <a:ea typeface="Aptos"/>
              </a:rPr>
              <a:t>Can I trust the preparation and standards?</a:t>
            </a:r>
            <a:endParaRPr b="0" lang="en-IN" sz="1120" spc="-1" strike="noStrike">
              <a:latin typeface="Arial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6236280" y="3090600"/>
            <a:ext cx="513864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6" name="Shape 16"/>
          <p:cNvSpPr/>
          <p:nvPr/>
        </p:nvSpPr>
        <p:spPr>
          <a:xfrm>
            <a:off x="6236280" y="3090600"/>
            <a:ext cx="63720" cy="895680"/>
          </a:xfrm>
          <a:prstGeom prst="rect">
            <a:avLst/>
          </a:prstGeom>
          <a:solidFill>
            <a:srgbClr val="4d5f78"/>
          </a:solidFill>
          <a:ln w="12700">
            <a:solidFill>
              <a:srgbClr val="4d5f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17"/>
          <p:cNvSpPr/>
          <p:nvPr/>
        </p:nvSpPr>
        <p:spPr>
          <a:xfrm>
            <a:off x="6400800" y="322776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39" spc="69" strike="noStrike">
                <a:solidFill>
                  <a:srgbClr val="4d5f78"/>
                </a:solidFill>
                <a:latin typeface="Aptos"/>
                <a:ea typeface="Aptos"/>
              </a:rPr>
              <a:t>CONSISTENCY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6400800" y="3502080"/>
            <a:ext cx="48459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" spc="-1" strike="noStrike">
                <a:solidFill>
                  <a:srgbClr val="24211f"/>
                </a:solidFill>
                <a:latin typeface="Aptos"/>
                <a:ea typeface="Aptos"/>
              </a:rPr>
              <a:t>Will the food be as good next time?</a:t>
            </a:r>
            <a:endParaRPr b="0" lang="en-IN" sz="1120" spc="-1" strike="noStrike">
              <a:latin typeface="Arial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594360" y="4169520"/>
            <a:ext cx="513864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0" name="Shape 20"/>
          <p:cNvSpPr/>
          <p:nvPr/>
        </p:nvSpPr>
        <p:spPr>
          <a:xfrm>
            <a:off x="594360" y="4169520"/>
            <a:ext cx="63720" cy="895680"/>
          </a:xfrm>
          <a:prstGeom prst="rect">
            <a:avLst/>
          </a:prstGeom>
          <a:solidFill>
            <a:srgbClr val="4d6b57"/>
          </a:solidFill>
          <a:ln w="12700">
            <a:solidFill>
              <a:srgbClr val="4d6b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21"/>
          <p:cNvSpPr/>
          <p:nvPr/>
        </p:nvSpPr>
        <p:spPr>
          <a:xfrm>
            <a:off x="758880" y="43066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39" spc="69" strike="noStrike">
                <a:solidFill>
                  <a:srgbClr val="4d6b57"/>
                </a:solidFill>
                <a:latin typeface="Aptos"/>
                <a:ea typeface="Aptos"/>
              </a:rPr>
              <a:t>DELIVERY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758880" y="4581000"/>
            <a:ext cx="48459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" spc="-1" strike="noStrike">
                <a:solidFill>
                  <a:srgbClr val="24211f"/>
                </a:solidFill>
                <a:latin typeface="Aptos"/>
                <a:ea typeface="Aptos"/>
              </a:rPr>
              <a:t>Will it arrive properly and on time?</a:t>
            </a:r>
            <a:endParaRPr b="0" lang="en-IN" sz="1120" spc="-1" strike="noStrike">
              <a:latin typeface="Arial"/>
            </a:endParaRPr>
          </a:p>
        </p:txBody>
      </p:sp>
      <p:sp>
        <p:nvSpPr>
          <p:cNvPr id="213" name="Shape 23"/>
          <p:cNvSpPr/>
          <p:nvPr/>
        </p:nvSpPr>
        <p:spPr>
          <a:xfrm>
            <a:off x="6236280" y="4169520"/>
            <a:ext cx="5138640" cy="8956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4" name="Shape 24"/>
          <p:cNvSpPr/>
          <p:nvPr/>
        </p:nvSpPr>
        <p:spPr>
          <a:xfrm>
            <a:off x="6236280" y="4169520"/>
            <a:ext cx="63720" cy="895680"/>
          </a:xfrm>
          <a:prstGeom prst="rect">
            <a:avLst/>
          </a:prstGeom>
          <a:solidFill>
            <a:srgbClr val="4d5f78"/>
          </a:solidFill>
          <a:ln w="12700">
            <a:solidFill>
              <a:srgbClr val="4d5f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25"/>
          <p:cNvSpPr/>
          <p:nvPr/>
        </p:nvSpPr>
        <p:spPr>
          <a:xfrm>
            <a:off x="6400800" y="4306680"/>
            <a:ext cx="484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39" spc="69" strike="noStrike">
                <a:solidFill>
                  <a:srgbClr val="4d5f78"/>
                </a:solidFill>
                <a:latin typeface="Aptos"/>
                <a:ea typeface="Aptos"/>
              </a:rPr>
              <a:t>ACCOUNTABILITY</a:t>
            </a:r>
            <a:endParaRPr b="0" lang="en-IN" sz="939" spc="-1" strike="noStrike">
              <a:latin typeface="Arial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6400800" y="4581000"/>
            <a:ext cx="48459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" spc="-1" strike="noStrike">
                <a:solidFill>
                  <a:srgbClr val="24211f"/>
                </a:solidFill>
                <a:latin typeface="Aptos"/>
                <a:ea typeface="Aptos"/>
              </a:rPr>
              <a:t>Who helps me if something goes wrong?</a:t>
            </a:r>
            <a:endParaRPr b="0" lang="en-IN" sz="1120" spc="-1" strike="noStrike">
              <a:latin typeface="Arial"/>
            </a:endParaRPr>
          </a:p>
        </p:txBody>
      </p:sp>
      <p:sp>
        <p:nvSpPr>
          <p:cNvPr id="217" name="Text 27"/>
          <p:cNvSpPr/>
          <p:nvPr/>
        </p:nvSpPr>
        <p:spPr>
          <a:xfrm>
            <a:off x="1005840" y="5559480"/>
            <a:ext cx="1010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I need lunch every weekday. I want dinner I can count on. I don’t want to rediscover food every day.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19" name="Text 29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sldNum" idx="9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863428A3-72F8-4326-B093-F430FC60361A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&lt;number&gt;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222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05 • WHY TIFFIN MATTERS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Predictable meals create a more efficient food network.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594360" y="1389960"/>
            <a:ext cx="10606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Recurring demand changes planning for the homemaker and operations for Homaatri.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594360" y="2011680"/>
            <a:ext cx="5303160" cy="1599840"/>
          </a:xfrm>
          <a:prstGeom prst="roundRect">
            <a:avLst>
              <a:gd name="adj" fmla="val 4571"/>
            </a:avLst>
          </a:prstGeom>
          <a:solidFill>
            <a:srgbClr val="f5e8e0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6" name="Shape 4"/>
          <p:cNvSpPr/>
          <p:nvPr/>
        </p:nvSpPr>
        <p:spPr>
          <a:xfrm>
            <a:off x="594360" y="2011680"/>
            <a:ext cx="63720" cy="159984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5"/>
          <p:cNvSpPr/>
          <p:nvPr/>
        </p:nvSpPr>
        <p:spPr>
          <a:xfrm>
            <a:off x="758880" y="2148840"/>
            <a:ext cx="5010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69" strike="noStrike">
                <a:solidFill>
                  <a:srgbClr val="d33313"/>
                </a:solidFill>
                <a:latin typeface="Aptos"/>
                <a:ea typeface="Aptos"/>
              </a:rPr>
              <a:t>PREDICTABLE DEMAND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758880" y="2423160"/>
            <a:ext cx="5010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30" spc="-1" strike="noStrike">
                <a:solidFill>
                  <a:srgbClr val="24211f"/>
                </a:solidFill>
                <a:latin typeface="Aptos"/>
                <a:ea typeface="Aptos"/>
              </a:rPr>
              <a:t>Homemakers know roughly how many meals they need to prepare.</a:t>
            </a:r>
            <a:endParaRPr b="0" lang="en-IN" sz="1230" spc="-1" strike="noStrike"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6263640" y="2011680"/>
            <a:ext cx="5303160" cy="1599840"/>
          </a:xfrm>
          <a:prstGeom prst="roundRect">
            <a:avLst>
              <a:gd name="adj" fmla="val 4571"/>
            </a:avLst>
          </a:prstGeom>
          <a:solidFill>
            <a:srgbClr val="eaf1ec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Shape 8"/>
          <p:cNvSpPr/>
          <p:nvPr/>
        </p:nvSpPr>
        <p:spPr>
          <a:xfrm>
            <a:off x="6263640" y="2011680"/>
            <a:ext cx="63720" cy="1599840"/>
          </a:xfrm>
          <a:prstGeom prst="rect">
            <a:avLst/>
          </a:prstGeom>
          <a:solidFill>
            <a:srgbClr val="4d6b57"/>
          </a:solidFill>
          <a:ln w="12700">
            <a:solidFill>
              <a:srgbClr val="4d6b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9"/>
          <p:cNvSpPr/>
          <p:nvPr/>
        </p:nvSpPr>
        <p:spPr>
          <a:xfrm>
            <a:off x="6428160" y="2148840"/>
            <a:ext cx="5010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69" strike="noStrike">
                <a:solidFill>
                  <a:srgbClr val="4d6b57"/>
                </a:solidFill>
                <a:latin typeface="Aptos"/>
                <a:ea typeface="Aptos"/>
              </a:rPr>
              <a:t>LESS FOOD WASTE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2" name="Text 10"/>
          <p:cNvSpPr/>
          <p:nvPr/>
        </p:nvSpPr>
        <p:spPr>
          <a:xfrm>
            <a:off x="6428160" y="2423160"/>
            <a:ext cx="5010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30" spc="-1" strike="noStrike">
                <a:solidFill>
                  <a:srgbClr val="24211f"/>
                </a:solidFill>
                <a:latin typeface="Aptos"/>
                <a:ea typeface="Aptos"/>
              </a:rPr>
              <a:t>Preparation can be planned against expected orders instead of uncertain impulse demand.</a:t>
            </a:r>
            <a:endParaRPr b="0" lang="en-IN" sz="1230" spc="-1" strike="noStrike">
              <a:latin typeface="Arial"/>
            </a:endParaRPr>
          </a:p>
        </p:txBody>
      </p:sp>
      <p:sp>
        <p:nvSpPr>
          <p:cNvPr id="233" name="Shape 11"/>
          <p:cNvSpPr/>
          <p:nvPr/>
        </p:nvSpPr>
        <p:spPr>
          <a:xfrm>
            <a:off x="594360" y="3931920"/>
            <a:ext cx="5303160" cy="1599840"/>
          </a:xfrm>
          <a:prstGeom prst="roundRect">
            <a:avLst>
              <a:gd name="adj" fmla="val 4571"/>
            </a:avLst>
          </a:prstGeom>
          <a:solidFill>
            <a:srgbClr val="edf0f5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4" name="Shape 12"/>
          <p:cNvSpPr/>
          <p:nvPr/>
        </p:nvSpPr>
        <p:spPr>
          <a:xfrm>
            <a:off x="594360" y="3931920"/>
            <a:ext cx="63720" cy="1599840"/>
          </a:xfrm>
          <a:prstGeom prst="rect">
            <a:avLst/>
          </a:prstGeom>
          <a:solidFill>
            <a:srgbClr val="4d5f78"/>
          </a:solidFill>
          <a:ln w="12700">
            <a:solidFill>
              <a:srgbClr val="4d5f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13"/>
          <p:cNvSpPr/>
          <p:nvPr/>
        </p:nvSpPr>
        <p:spPr>
          <a:xfrm>
            <a:off x="758880" y="4069080"/>
            <a:ext cx="5010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69" strike="noStrike">
                <a:solidFill>
                  <a:srgbClr val="4d5f78"/>
                </a:solidFill>
                <a:latin typeface="Aptos"/>
                <a:ea typeface="Aptos"/>
              </a:rPr>
              <a:t>ROUTE DENSITY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6" name="Text 14"/>
          <p:cNvSpPr/>
          <p:nvPr/>
        </p:nvSpPr>
        <p:spPr>
          <a:xfrm>
            <a:off x="758880" y="4343400"/>
            <a:ext cx="5010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30" spc="-1" strike="noStrike">
                <a:solidFill>
                  <a:srgbClr val="24211f"/>
                </a:solidFill>
                <a:latin typeface="Aptos"/>
                <a:ea typeface="Aptos"/>
              </a:rPr>
              <a:t>Lunch and dinner orders can be grouped into planned delivery windows and routes.</a:t>
            </a:r>
            <a:endParaRPr b="0" lang="en-IN" sz="1230" spc="-1" strike="noStrike">
              <a:latin typeface="Arial"/>
            </a:endParaRPr>
          </a:p>
        </p:txBody>
      </p:sp>
      <p:sp>
        <p:nvSpPr>
          <p:cNvPr id="237" name="Shape 15"/>
          <p:cNvSpPr/>
          <p:nvPr/>
        </p:nvSpPr>
        <p:spPr>
          <a:xfrm>
            <a:off x="6263640" y="3931920"/>
            <a:ext cx="530316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Shape 16"/>
          <p:cNvSpPr/>
          <p:nvPr/>
        </p:nvSpPr>
        <p:spPr>
          <a:xfrm>
            <a:off x="6263640" y="3931920"/>
            <a:ext cx="63720" cy="1599840"/>
          </a:xfrm>
          <a:prstGeom prst="rect">
            <a:avLst/>
          </a:prstGeom>
          <a:solidFill>
            <a:srgbClr val="24211f"/>
          </a:solidFill>
          <a:ln w="12700">
            <a:solidFill>
              <a:srgbClr val="24211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7"/>
          <p:cNvSpPr/>
          <p:nvPr/>
        </p:nvSpPr>
        <p:spPr>
          <a:xfrm>
            <a:off x="6428160" y="4069080"/>
            <a:ext cx="5010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69" strike="noStrike">
                <a:solidFill>
                  <a:srgbClr val="24211f"/>
                </a:solidFill>
                <a:latin typeface="Aptos"/>
                <a:ea typeface="Aptos"/>
              </a:rPr>
              <a:t>BETTER UNIT ECONOMICS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0" name="Text 18"/>
          <p:cNvSpPr/>
          <p:nvPr/>
        </p:nvSpPr>
        <p:spPr>
          <a:xfrm>
            <a:off x="6428160" y="4343400"/>
            <a:ext cx="5010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30" spc="-1" strike="noStrike">
                <a:solidFill>
                  <a:srgbClr val="24211f"/>
                </a:solidFill>
                <a:latin typeface="Aptos"/>
                <a:ea typeface="Aptos"/>
              </a:rPr>
              <a:t>More predictable production + denser delivery can reduce operational inefficiency as the network scales.</a:t>
            </a:r>
            <a:endParaRPr b="0" lang="en-IN" sz="1230" spc="-1" strike="noStrike">
              <a:latin typeface="Arial"/>
            </a:endParaRPr>
          </a:p>
        </p:txBody>
      </p:sp>
      <p:sp>
        <p:nvSpPr>
          <p:cNvPr id="241" name="Text 19"/>
          <p:cNvSpPr/>
          <p:nvPr/>
        </p:nvSpPr>
        <p:spPr>
          <a:xfrm>
            <a:off x="914400" y="589788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33313"/>
                </a:solidFill>
                <a:latin typeface="Aptos Display"/>
                <a:ea typeface="Aptos Display"/>
              </a:rPr>
              <a:t>Predictable demand → predictable preparation → denser delivery → a better operating model.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2" name="Text 20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44" name="PlaceHolder 1"/>
          <p:cNvSpPr>
            <a:spLocks noGrp="1"/>
          </p:cNvSpPr>
          <p:nvPr>
            <p:ph type="sldNum" idx="10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3AEE3F54-E14A-49F5-890B-1D2FEA5BD49F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&lt;number&gt;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246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06 • THE HOMAATRI MODEL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Homaatri bridges the gap between homemaker and customer.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594360" y="1389960"/>
            <a:ext cx="10606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We solve for both sides — building the business for the homemaker and owning the trust + service layer for the customer.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9" name="Shape 3"/>
          <p:cNvSpPr/>
          <p:nvPr/>
        </p:nvSpPr>
        <p:spPr>
          <a:xfrm>
            <a:off x="594360" y="2030040"/>
            <a:ext cx="3154320" cy="3337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Shape 4"/>
          <p:cNvSpPr/>
          <p:nvPr/>
        </p:nvSpPr>
        <p:spPr>
          <a:xfrm>
            <a:off x="594360" y="2030040"/>
            <a:ext cx="63720" cy="333720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5"/>
          <p:cNvSpPr/>
          <p:nvPr/>
        </p:nvSpPr>
        <p:spPr>
          <a:xfrm>
            <a:off x="758880" y="2167200"/>
            <a:ext cx="2861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69" strike="noStrike">
                <a:solidFill>
                  <a:srgbClr val="d33313"/>
                </a:solidFill>
                <a:latin typeface="Aptos"/>
                <a:ea typeface="Aptos"/>
              </a:rPr>
              <a:t>HOMEMAKER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758880" y="2441520"/>
            <a:ext cx="28616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24211f"/>
                </a:solidFill>
                <a:latin typeface="Aptos"/>
                <a:ea typeface="Aptos"/>
              </a:rPr>
              <a:t>Build brand</a:t>
            </a:r>
            <a:endParaRPr b="0" lang="en-IN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24211f"/>
                </a:solidFill>
                <a:latin typeface="Aptos"/>
                <a:ea typeface="Aptos"/>
              </a:rPr>
              <a:t>Create content</a:t>
            </a:r>
            <a:endParaRPr b="0" lang="en-IN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24211f"/>
                </a:solidFill>
                <a:latin typeface="Aptos"/>
                <a:ea typeface="Aptos"/>
              </a:rPr>
              <a:t>See demand</a:t>
            </a:r>
            <a:endParaRPr b="0" lang="en-IN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24211f"/>
                </a:solidFill>
                <a:latin typeface="Aptos"/>
                <a:ea typeface="Aptos"/>
              </a:rPr>
              <a:t>Prepare efficiently</a:t>
            </a:r>
            <a:endParaRPr b="0" lang="en-IN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24211f"/>
                </a:solidFill>
                <a:latin typeface="Aptos"/>
                <a:ea typeface="Aptos"/>
              </a:rPr>
              <a:t>Grow business</a:t>
            </a:r>
            <a:endParaRPr b="0" lang="en-IN" sz="1320" spc="-1" strike="noStrike">
              <a:latin typeface="Arial"/>
            </a:endParaRPr>
          </a:p>
        </p:txBody>
      </p:sp>
      <p:sp>
        <p:nvSpPr>
          <p:cNvPr id="253" name="Shape 7"/>
          <p:cNvSpPr/>
          <p:nvPr/>
        </p:nvSpPr>
        <p:spPr>
          <a:xfrm>
            <a:off x="4114800" y="1828800"/>
            <a:ext cx="3958920" cy="3702960"/>
          </a:xfrm>
          <a:prstGeom prst="roundRect">
            <a:avLst>
              <a:gd name="adj" fmla="val 2963"/>
            </a:avLst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8"/>
          <p:cNvSpPr/>
          <p:nvPr/>
        </p:nvSpPr>
        <p:spPr>
          <a:xfrm>
            <a:off x="4407480" y="2240280"/>
            <a:ext cx="3364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HOMAATRI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4462200" y="2688480"/>
            <a:ext cx="3273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69" strike="noStrike">
                <a:solidFill>
                  <a:srgbClr val="fce9e1"/>
                </a:solidFill>
                <a:latin typeface="Aptos"/>
                <a:ea typeface="Aptos"/>
              </a:rPr>
              <a:t>THE TRUSTED + EFFICIENT LAYER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4590360" y="315468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Brand + content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7" name="Text 11"/>
          <p:cNvSpPr/>
          <p:nvPr/>
        </p:nvSpPr>
        <p:spPr>
          <a:xfrm>
            <a:off x="4590360" y="367596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Standards + verification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4590360" y="419724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Recurring commerce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4590360" y="4718160"/>
            <a:ext cx="3017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• </a:t>
            </a:r>
            <a:r>
              <a:rPr b="0" lang="en-US" sz="1200" spc="-1" strike="noStrike">
                <a:solidFill>
                  <a:srgbClr val="ffffff"/>
                </a:solidFill>
                <a:latin typeface="Aptos"/>
                <a:ea typeface="Aptos"/>
              </a:rPr>
              <a:t>Delivery + support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0" name="Shape 14"/>
          <p:cNvSpPr/>
          <p:nvPr/>
        </p:nvSpPr>
        <p:spPr>
          <a:xfrm>
            <a:off x="8183880" y="2030040"/>
            <a:ext cx="3410280" cy="33372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1" name="Shape 15"/>
          <p:cNvSpPr/>
          <p:nvPr/>
        </p:nvSpPr>
        <p:spPr>
          <a:xfrm>
            <a:off x="8183880" y="2030040"/>
            <a:ext cx="63720" cy="3337200"/>
          </a:xfrm>
          <a:prstGeom prst="rect">
            <a:avLst/>
          </a:prstGeom>
          <a:solidFill>
            <a:srgbClr val="4d6b57"/>
          </a:solidFill>
          <a:ln w="12700">
            <a:solidFill>
              <a:srgbClr val="4d6b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6"/>
          <p:cNvSpPr/>
          <p:nvPr/>
        </p:nvSpPr>
        <p:spPr>
          <a:xfrm>
            <a:off x="8348400" y="2167200"/>
            <a:ext cx="3117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69" strike="noStrike">
                <a:solidFill>
                  <a:srgbClr val="4d6b57"/>
                </a:solidFill>
                <a:latin typeface="Aptos"/>
                <a:ea typeface="Aptos"/>
              </a:rPr>
              <a:t>CUSTOMER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8348400" y="2441520"/>
            <a:ext cx="311760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24211f"/>
                </a:solidFill>
                <a:latin typeface="Aptos"/>
                <a:ea typeface="Aptos"/>
              </a:rPr>
              <a:t>Discover trusted homemakers</a:t>
            </a:r>
            <a:endParaRPr b="0" lang="en-IN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24211f"/>
                </a:solidFill>
                <a:latin typeface="Aptos"/>
                <a:ea typeface="Aptos"/>
              </a:rPr>
              <a:t>Choose lunch &amp; dinner</a:t>
            </a:r>
            <a:endParaRPr b="0" lang="en-IN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24211f"/>
                </a:solidFill>
                <a:latin typeface="Aptos"/>
                <a:ea typeface="Aptos"/>
              </a:rPr>
              <a:t>Receive home food reliably</a:t>
            </a:r>
            <a:endParaRPr b="0" lang="en-IN" sz="1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24211f"/>
                </a:solidFill>
                <a:latin typeface="Aptos"/>
                <a:ea typeface="Aptos"/>
              </a:rPr>
              <a:t>Review &amp; repeat</a:t>
            </a:r>
            <a:endParaRPr b="0" lang="en-IN" sz="1320" spc="-1" strike="noStrike">
              <a:latin typeface="Arial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1051560" y="5806440"/>
            <a:ext cx="10103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The homemaker focuses on the food. Homaatri takes care of the complexity around it.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65" name="Text 19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sldNum" idx="11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EB5EEC94-B42C-41FD-BC1E-0D7B94A29F3B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&lt;number&gt;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269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07 • PRODUCT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0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One platform. Two journeys. One trusted recurring experience.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271" name="Text 2"/>
          <p:cNvSpPr/>
          <p:nvPr/>
        </p:nvSpPr>
        <p:spPr>
          <a:xfrm>
            <a:off x="640080" y="185616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77" strike="noStrike">
                <a:solidFill>
                  <a:srgbClr val="d33313"/>
                </a:solidFill>
                <a:latin typeface="Aptos"/>
                <a:ea typeface="Aptos"/>
              </a:rPr>
              <a:t>FOR HOMEMAKERS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2" name="Shape 3"/>
          <p:cNvSpPr/>
          <p:nvPr/>
        </p:nvSpPr>
        <p:spPr>
          <a:xfrm>
            <a:off x="685800" y="224028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f5e8e0"/>
          </a:solidFill>
          <a:ln w="12700">
            <a:solidFill>
              <a:srgbClr val="f5e8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4"/>
          <p:cNvSpPr/>
          <p:nvPr/>
        </p:nvSpPr>
        <p:spPr>
          <a:xfrm>
            <a:off x="685800" y="231336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d33313"/>
                </a:solidFill>
                <a:latin typeface="Aptos"/>
                <a:ea typeface="Aptos"/>
              </a:rPr>
              <a:t>Join &amp; verify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4" name="Shape 5"/>
          <p:cNvSpPr/>
          <p:nvPr/>
        </p:nvSpPr>
        <p:spPr>
          <a:xfrm>
            <a:off x="2185200" y="2404800"/>
            <a:ext cx="228600" cy="360"/>
          </a:xfrm>
          <a:prstGeom prst="line">
            <a:avLst/>
          </a:prstGeom>
          <a:ln w="1905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6"/>
          <p:cNvSpPr/>
          <p:nvPr/>
        </p:nvSpPr>
        <p:spPr>
          <a:xfrm>
            <a:off x="2496240" y="224028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f5e8e0"/>
          </a:solidFill>
          <a:ln w="12700">
            <a:solidFill>
              <a:srgbClr val="f5e8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7"/>
          <p:cNvSpPr/>
          <p:nvPr/>
        </p:nvSpPr>
        <p:spPr>
          <a:xfrm>
            <a:off x="2496240" y="231336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d33313"/>
                </a:solidFill>
                <a:latin typeface="Aptos"/>
                <a:ea typeface="Aptos"/>
              </a:rPr>
              <a:t>Build brand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7" name="Shape 8"/>
          <p:cNvSpPr/>
          <p:nvPr/>
        </p:nvSpPr>
        <p:spPr>
          <a:xfrm>
            <a:off x="3995640" y="2404800"/>
            <a:ext cx="228600" cy="360"/>
          </a:xfrm>
          <a:prstGeom prst="line">
            <a:avLst/>
          </a:prstGeom>
          <a:ln w="1905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Shape 9"/>
          <p:cNvSpPr/>
          <p:nvPr/>
        </p:nvSpPr>
        <p:spPr>
          <a:xfrm>
            <a:off x="4306680" y="224028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10"/>
          <p:cNvSpPr/>
          <p:nvPr/>
        </p:nvSpPr>
        <p:spPr>
          <a:xfrm>
            <a:off x="4306680" y="231336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4211f"/>
                </a:solidFill>
                <a:latin typeface="Aptos"/>
                <a:ea typeface="Aptos"/>
              </a:rPr>
              <a:t>Create content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0" name="Shape 11"/>
          <p:cNvSpPr/>
          <p:nvPr/>
        </p:nvSpPr>
        <p:spPr>
          <a:xfrm>
            <a:off x="5806440" y="2404800"/>
            <a:ext cx="228600" cy="360"/>
          </a:xfrm>
          <a:prstGeom prst="line">
            <a:avLst/>
          </a:prstGeom>
          <a:ln w="1905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12"/>
          <p:cNvSpPr/>
          <p:nvPr/>
        </p:nvSpPr>
        <p:spPr>
          <a:xfrm>
            <a:off x="6117480" y="224028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13"/>
          <p:cNvSpPr/>
          <p:nvPr/>
        </p:nvSpPr>
        <p:spPr>
          <a:xfrm>
            <a:off x="6117480" y="231336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4211f"/>
                </a:solidFill>
                <a:latin typeface="Aptos"/>
                <a:ea typeface="Aptos"/>
              </a:rPr>
              <a:t>Plan menu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3" name="Shape 14"/>
          <p:cNvSpPr/>
          <p:nvPr/>
        </p:nvSpPr>
        <p:spPr>
          <a:xfrm>
            <a:off x="7616880" y="2404800"/>
            <a:ext cx="228600" cy="360"/>
          </a:xfrm>
          <a:prstGeom prst="line">
            <a:avLst/>
          </a:prstGeom>
          <a:ln w="1905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Shape 15"/>
          <p:cNvSpPr/>
          <p:nvPr/>
        </p:nvSpPr>
        <p:spPr>
          <a:xfrm>
            <a:off x="7927920" y="224028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16"/>
          <p:cNvSpPr/>
          <p:nvPr/>
        </p:nvSpPr>
        <p:spPr>
          <a:xfrm>
            <a:off x="7927920" y="231336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4211f"/>
                </a:solidFill>
                <a:latin typeface="Aptos"/>
                <a:ea typeface="Aptos"/>
              </a:rPr>
              <a:t>See demand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6" name="Shape 17"/>
          <p:cNvSpPr/>
          <p:nvPr/>
        </p:nvSpPr>
        <p:spPr>
          <a:xfrm>
            <a:off x="9427320" y="2404800"/>
            <a:ext cx="228600" cy="360"/>
          </a:xfrm>
          <a:prstGeom prst="line">
            <a:avLst/>
          </a:prstGeom>
          <a:ln w="1905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Shape 18"/>
          <p:cNvSpPr/>
          <p:nvPr/>
        </p:nvSpPr>
        <p:spPr>
          <a:xfrm>
            <a:off x="9738360" y="224028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19"/>
          <p:cNvSpPr/>
          <p:nvPr/>
        </p:nvSpPr>
        <p:spPr>
          <a:xfrm>
            <a:off x="9738360" y="231336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4211f"/>
                </a:solidFill>
                <a:latin typeface="Aptos"/>
                <a:ea typeface="Aptos"/>
              </a:rPr>
              <a:t>Grow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9" name="Text 20"/>
          <p:cNvSpPr/>
          <p:nvPr/>
        </p:nvSpPr>
        <p:spPr>
          <a:xfrm>
            <a:off x="640080" y="309060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77" strike="noStrike">
                <a:solidFill>
                  <a:srgbClr val="4d6b57"/>
                </a:solidFill>
                <a:latin typeface="Aptos"/>
                <a:ea typeface="Aptos"/>
              </a:rPr>
              <a:t>FOR CUSTOMERS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0" name="Shape 21"/>
          <p:cNvSpPr/>
          <p:nvPr/>
        </p:nvSpPr>
        <p:spPr>
          <a:xfrm>
            <a:off x="685800" y="347472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eaf1ec"/>
          </a:solidFill>
          <a:ln w="12700">
            <a:solidFill>
              <a:srgbClr val="eaf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22"/>
          <p:cNvSpPr/>
          <p:nvPr/>
        </p:nvSpPr>
        <p:spPr>
          <a:xfrm>
            <a:off x="685800" y="354780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d6b57"/>
                </a:solidFill>
                <a:latin typeface="Aptos"/>
                <a:ea typeface="Aptos"/>
              </a:rPr>
              <a:t>Discover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2" name="Shape 23"/>
          <p:cNvSpPr/>
          <p:nvPr/>
        </p:nvSpPr>
        <p:spPr>
          <a:xfrm>
            <a:off x="2185200" y="3639240"/>
            <a:ext cx="228600" cy="360"/>
          </a:xfrm>
          <a:prstGeom prst="line">
            <a:avLst/>
          </a:prstGeom>
          <a:ln w="1905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24"/>
          <p:cNvSpPr/>
          <p:nvPr/>
        </p:nvSpPr>
        <p:spPr>
          <a:xfrm>
            <a:off x="2496240" y="347472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eaf1ec"/>
          </a:solidFill>
          <a:ln w="12700">
            <a:solidFill>
              <a:srgbClr val="eaf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25"/>
          <p:cNvSpPr/>
          <p:nvPr/>
        </p:nvSpPr>
        <p:spPr>
          <a:xfrm>
            <a:off x="2496240" y="354780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d6b57"/>
                </a:solidFill>
                <a:latin typeface="Aptos"/>
                <a:ea typeface="Aptos"/>
              </a:rPr>
              <a:t>Choose homemaker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5" name="Shape 26"/>
          <p:cNvSpPr/>
          <p:nvPr/>
        </p:nvSpPr>
        <p:spPr>
          <a:xfrm>
            <a:off x="3995640" y="3639240"/>
            <a:ext cx="228600" cy="360"/>
          </a:xfrm>
          <a:prstGeom prst="line">
            <a:avLst/>
          </a:prstGeom>
          <a:ln w="1905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Shape 27"/>
          <p:cNvSpPr/>
          <p:nvPr/>
        </p:nvSpPr>
        <p:spPr>
          <a:xfrm>
            <a:off x="4306680" y="347472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28"/>
          <p:cNvSpPr/>
          <p:nvPr/>
        </p:nvSpPr>
        <p:spPr>
          <a:xfrm>
            <a:off x="4306680" y="354780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4211f"/>
                </a:solidFill>
                <a:latin typeface="Aptos"/>
                <a:ea typeface="Aptos"/>
              </a:rPr>
              <a:t>Subscribe / schedule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8" name="Shape 29"/>
          <p:cNvSpPr/>
          <p:nvPr/>
        </p:nvSpPr>
        <p:spPr>
          <a:xfrm>
            <a:off x="5806440" y="3639240"/>
            <a:ext cx="228600" cy="360"/>
          </a:xfrm>
          <a:prstGeom prst="line">
            <a:avLst/>
          </a:prstGeom>
          <a:ln w="1905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Shape 30"/>
          <p:cNvSpPr/>
          <p:nvPr/>
        </p:nvSpPr>
        <p:spPr>
          <a:xfrm>
            <a:off x="6117480" y="347472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31"/>
          <p:cNvSpPr/>
          <p:nvPr/>
        </p:nvSpPr>
        <p:spPr>
          <a:xfrm>
            <a:off x="6117480" y="354780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4211f"/>
                </a:solidFill>
                <a:latin typeface="Aptos"/>
                <a:ea typeface="Aptos"/>
              </a:rPr>
              <a:t>Receive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1" name="Shape 32"/>
          <p:cNvSpPr/>
          <p:nvPr/>
        </p:nvSpPr>
        <p:spPr>
          <a:xfrm>
            <a:off x="7616880" y="3639240"/>
            <a:ext cx="228600" cy="360"/>
          </a:xfrm>
          <a:prstGeom prst="line">
            <a:avLst/>
          </a:prstGeom>
          <a:ln w="1905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Shape 33"/>
          <p:cNvSpPr/>
          <p:nvPr/>
        </p:nvSpPr>
        <p:spPr>
          <a:xfrm>
            <a:off x="7927920" y="347472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34"/>
          <p:cNvSpPr/>
          <p:nvPr/>
        </p:nvSpPr>
        <p:spPr>
          <a:xfrm>
            <a:off x="7927920" y="354780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4211f"/>
                </a:solidFill>
                <a:latin typeface="Aptos"/>
                <a:ea typeface="Aptos"/>
              </a:rPr>
              <a:t>Review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4" name="Shape 35"/>
          <p:cNvSpPr/>
          <p:nvPr/>
        </p:nvSpPr>
        <p:spPr>
          <a:xfrm>
            <a:off x="9427320" y="3639240"/>
            <a:ext cx="228600" cy="360"/>
          </a:xfrm>
          <a:prstGeom prst="line">
            <a:avLst/>
          </a:prstGeom>
          <a:ln w="1905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36"/>
          <p:cNvSpPr/>
          <p:nvPr/>
        </p:nvSpPr>
        <p:spPr>
          <a:xfrm>
            <a:off x="9738360" y="3474720"/>
            <a:ext cx="1481040" cy="32868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37"/>
          <p:cNvSpPr/>
          <p:nvPr/>
        </p:nvSpPr>
        <p:spPr>
          <a:xfrm>
            <a:off x="9738360" y="354780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4211f"/>
                </a:solidFill>
                <a:latin typeface="Aptos"/>
                <a:ea typeface="Aptos"/>
              </a:rPr>
              <a:t>Repeat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7" name="Shape 38"/>
          <p:cNvSpPr/>
          <p:nvPr/>
        </p:nvSpPr>
        <p:spPr>
          <a:xfrm>
            <a:off x="685800" y="4343400"/>
            <a:ext cx="55774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39"/>
          <p:cNvSpPr/>
          <p:nvPr/>
        </p:nvSpPr>
        <p:spPr>
          <a:xfrm>
            <a:off x="914400" y="459036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Anita's Kitchen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09" name="Text 40"/>
          <p:cNvSpPr/>
          <p:nvPr/>
        </p:nvSpPr>
        <p:spPr>
          <a:xfrm>
            <a:off x="914400" y="4873680"/>
            <a:ext cx="3291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e6762"/>
                </a:solidFill>
                <a:latin typeface="Aptos"/>
                <a:ea typeface="Aptos"/>
              </a:rPr>
              <a:t>4.9 ★  •  1.2 km  •  1,240 followers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10" name="Text 41"/>
          <p:cNvSpPr/>
          <p:nvPr/>
        </p:nvSpPr>
        <p:spPr>
          <a:xfrm>
            <a:off x="914400" y="5166360"/>
            <a:ext cx="4297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24211f"/>
                </a:solidFill>
                <a:latin typeface="Aptos"/>
                <a:ea typeface="Aptos"/>
              </a:rPr>
              <a:t>“</a:t>
            </a:r>
            <a:r>
              <a:rPr b="0" i="1" lang="en-US" sz="1050" spc="-1" strike="noStrike">
                <a:solidFill>
                  <a:srgbClr val="24211f"/>
                </a:solidFill>
                <a:latin typeface="Aptos"/>
                <a:ea typeface="Aptos"/>
              </a:rPr>
              <a:t>Today I’m making the rajma my mother taught me.”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1" name="Shape 42"/>
          <p:cNvSpPr/>
          <p:nvPr/>
        </p:nvSpPr>
        <p:spPr>
          <a:xfrm>
            <a:off x="5047560" y="4572000"/>
            <a:ext cx="941400" cy="328680"/>
          </a:xfrm>
          <a:prstGeom prst="roundRect">
            <a:avLst>
              <a:gd name="adj" fmla="val 33333"/>
            </a:avLst>
          </a:prstGeom>
          <a:solidFill>
            <a:srgbClr val="f5e8e0"/>
          </a:solidFill>
          <a:ln w="12700">
            <a:solidFill>
              <a:srgbClr val="f5e8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43"/>
          <p:cNvSpPr/>
          <p:nvPr/>
        </p:nvSpPr>
        <p:spPr>
          <a:xfrm>
            <a:off x="5047560" y="4645080"/>
            <a:ext cx="941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d33313"/>
                </a:solidFill>
                <a:latin typeface="Aptos"/>
                <a:ea typeface="Aptos"/>
              </a:rPr>
              <a:t>REEL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13" name="Shape 44"/>
          <p:cNvSpPr/>
          <p:nvPr/>
        </p:nvSpPr>
        <p:spPr>
          <a:xfrm>
            <a:off x="6629400" y="4343400"/>
            <a:ext cx="4964760" cy="1416960"/>
          </a:xfrm>
          <a:prstGeom prst="roundRect">
            <a:avLst>
              <a:gd name="adj" fmla="val 5161"/>
            </a:avLst>
          </a:prstGeom>
          <a:solidFill>
            <a:srgbClr val="f5e8e0"/>
          </a:solidFill>
          <a:ln w="12700">
            <a:solidFill>
              <a:srgbClr val="e8d4c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45"/>
          <p:cNvSpPr/>
          <p:nvPr/>
        </p:nvSpPr>
        <p:spPr>
          <a:xfrm>
            <a:off x="6903720" y="457200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This week’s lunch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15" name="Text 46"/>
          <p:cNvSpPr/>
          <p:nvPr/>
        </p:nvSpPr>
        <p:spPr>
          <a:xfrm>
            <a:off x="6903720" y="4910400"/>
            <a:ext cx="2377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4211f"/>
                </a:solidFill>
                <a:latin typeface="Aptos"/>
                <a:ea typeface="Aptos"/>
              </a:rPr>
              <a:t>MON  Rajma + Rice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4211f"/>
                </a:solidFill>
                <a:latin typeface="Aptos"/>
                <a:ea typeface="Aptos"/>
              </a:rPr>
              <a:t>TUE   Kadhi + Roti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24211f"/>
                </a:solidFill>
                <a:latin typeface="Aptos"/>
                <a:ea typeface="Aptos"/>
              </a:rPr>
              <a:t>WED  Dal + Sabzi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6" name="Text 47"/>
          <p:cNvSpPr/>
          <p:nvPr/>
        </p:nvSpPr>
        <p:spPr>
          <a:xfrm>
            <a:off x="7315200" y="5806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d33313"/>
                </a:solidFill>
                <a:latin typeface="Aptos"/>
                <a:ea typeface="Aptos"/>
              </a:rPr>
              <a:t>Recurring meals create recurring relationships.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7" name="Text 48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18" name="Text 49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sldNum" idx="12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2658A30D-9780-429F-9C3D-073C9DBDD76B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&lt;number&gt;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321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08 • TRUST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22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Home-cooked should feel personal — never uncertain.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323" name="Text 2"/>
          <p:cNvSpPr/>
          <p:nvPr/>
        </p:nvSpPr>
        <p:spPr>
          <a:xfrm>
            <a:off x="594360" y="1389960"/>
            <a:ext cx="10606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Customers should know there is a real standard, a real process and a real party responsible for the experience.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4" name="Shape 3"/>
          <p:cNvSpPr/>
          <p:nvPr/>
        </p:nvSpPr>
        <p:spPr>
          <a:xfrm>
            <a:off x="594360" y="2103120"/>
            <a:ext cx="2468520" cy="3062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4"/>
          <p:cNvSpPr/>
          <p:nvPr/>
        </p:nvSpPr>
        <p:spPr>
          <a:xfrm>
            <a:off x="777240" y="23317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d33313"/>
                </a:solidFill>
                <a:latin typeface="Aptos Display"/>
                <a:ea typeface="Aptos Display"/>
              </a:rPr>
              <a:t>01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6" name="Text 5"/>
          <p:cNvSpPr/>
          <p:nvPr/>
        </p:nvSpPr>
        <p:spPr>
          <a:xfrm>
            <a:off x="777240" y="280728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77" strike="noStrike">
                <a:solidFill>
                  <a:srgbClr val="d33313"/>
                </a:solidFill>
                <a:latin typeface="Aptos"/>
                <a:ea typeface="Aptos"/>
              </a:rPr>
              <a:t>ONBOARDING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777240" y="3182040"/>
            <a:ext cx="2029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20" spc="-1" strike="noStrike">
                <a:solidFill>
                  <a:srgbClr val="24211f"/>
                </a:solidFill>
                <a:latin typeface="Aptos"/>
                <a:ea typeface="Aptos"/>
              </a:rPr>
              <a:t>Identity and kitchen verification before a home kitchen goes live.</a:t>
            </a:r>
            <a:endParaRPr b="0" lang="en-IN" sz="1220" spc="-1" strike="noStrike">
              <a:latin typeface="Arial"/>
            </a:endParaRPr>
          </a:p>
        </p:txBody>
      </p:sp>
      <p:sp>
        <p:nvSpPr>
          <p:cNvPr id="328" name="Shape 7"/>
          <p:cNvSpPr/>
          <p:nvPr/>
        </p:nvSpPr>
        <p:spPr>
          <a:xfrm>
            <a:off x="3410640" y="2103120"/>
            <a:ext cx="2468520" cy="3062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8"/>
          <p:cNvSpPr/>
          <p:nvPr/>
        </p:nvSpPr>
        <p:spPr>
          <a:xfrm>
            <a:off x="3593520" y="23317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d6b57"/>
                </a:solidFill>
                <a:latin typeface="Aptos Display"/>
                <a:ea typeface="Aptos Display"/>
              </a:rPr>
              <a:t>02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0" name="Text 9"/>
          <p:cNvSpPr/>
          <p:nvPr/>
        </p:nvSpPr>
        <p:spPr>
          <a:xfrm>
            <a:off x="3593520" y="280728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77" strike="noStrike">
                <a:solidFill>
                  <a:srgbClr val="4d6b57"/>
                </a:solidFill>
                <a:latin typeface="Aptos"/>
                <a:ea typeface="Aptos"/>
              </a:rPr>
              <a:t>STANDARDS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31" name="Text 10"/>
          <p:cNvSpPr/>
          <p:nvPr/>
        </p:nvSpPr>
        <p:spPr>
          <a:xfrm>
            <a:off x="3593520" y="3182040"/>
            <a:ext cx="2029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20" spc="-1" strike="noStrike">
                <a:solidFill>
                  <a:srgbClr val="24211f"/>
                </a:solidFill>
                <a:latin typeface="Aptos"/>
                <a:ea typeface="Aptos"/>
              </a:rPr>
              <a:t>Clear hygiene, food handling, packaging and service guidelines.</a:t>
            </a:r>
            <a:endParaRPr b="0" lang="en-IN" sz="1220" spc="-1" strike="noStrike">
              <a:latin typeface="Arial"/>
            </a:endParaRPr>
          </a:p>
        </p:txBody>
      </p:sp>
      <p:sp>
        <p:nvSpPr>
          <p:cNvPr id="332" name="Shape 11"/>
          <p:cNvSpPr/>
          <p:nvPr/>
        </p:nvSpPr>
        <p:spPr>
          <a:xfrm>
            <a:off x="6226920" y="2103120"/>
            <a:ext cx="2468520" cy="3062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12"/>
          <p:cNvSpPr/>
          <p:nvPr/>
        </p:nvSpPr>
        <p:spPr>
          <a:xfrm>
            <a:off x="6409800" y="23317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d5f78"/>
                </a:solidFill>
                <a:latin typeface="Aptos Display"/>
                <a:ea typeface="Aptos Display"/>
              </a:rPr>
              <a:t>03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4" name="Text 13"/>
          <p:cNvSpPr/>
          <p:nvPr/>
        </p:nvSpPr>
        <p:spPr>
          <a:xfrm>
            <a:off x="6409800" y="280728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77" strike="noStrike">
                <a:solidFill>
                  <a:srgbClr val="4d5f78"/>
                </a:solidFill>
                <a:latin typeface="Aptos"/>
                <a:ea typeface="Aptos"/>
              </a:rPr>
              <a:t>MONITORING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35" name="Text 14"/>
          <p:cNvSpPr/>
          <p:nvPr/>
        </p:nvSpPr>
        <p:spPr>
          <a:xfrm>
            <a:off x="6409800" y="3182040"/>
            <a:ext cx="2029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20" spc="-1" strike="noStrike">
                <a:solidFill>
                  <a:srgbClr val="24211f"/>
                </a:solidFill>
                <a:latin typeface="Aptos"/>
                <a:ea typeface="Aptos"/>
              </a:rPr>
              <a:t>Ratings, feedback and operational checks keep standards honest.</a:t>
            </a:r>
            <a:endParaRPr b="0" lang="en-IN" sz="1220" spc="-1" strike="noStrike">
              <a:latin typeface="Arial"/>
            </a:endParaRPr>
          </a:p>
        </p:txBody>
      </p:sp>
      <p:sp>
        <p:nvSpPr>
          <p:cNvPr id="336" name="Shape 15"/>
          <p:cNvSpPr/>
          <p:nvPr/>
        </p:nvSpPr>
        <p:spPr>
          <a:xfrm>
            <a:off x="9043560" y="2103120"/>
            <a:ext cx="2468520" cy="3062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16"/>
          <p:cNvSpPr/>
          <p:nvPr/>
        </p:nvSpPr>
        <p:spPr>
          <a:xfrm>
            <a:off x="9226440" y="23317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04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8" name="Text 17"/>
          <p:cNvSpPr/>
          <p:nvPr/>
        </p:nvSpPr>
        <p:spPr>
          <a:xfrm>
            <a:off x="9226440" y="280728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77" strike="noStrike">
                <a:solidFill>
                  <a:srgbClr val="24211f"/>
                </a:solidFill>
                <a:latin typeface="Aptos"/>
                <a:ea typeface="Aptos"/>
              </a:rPr>
              <a:t>DELIVERY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39" name="Text 18"/>
          <p:cNvSpPr/>
          <p:nvPr/>
        </p:nvSpPr>
        <p:spPr>
          <a:xfrm>
            <a:off x="9226440" y="3182040"/>
            <a:ext cx="2029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20" spc="-1" strike="noStrike">
                <a:solidFill>
                  <a:srgbClr val="24211f"/>
                </a:solidFill>
                <a:latin typeface="Aptos"/>
                <a:ea typeface="Aptos"/>
              </a:rPr>
              <a:t>A Homaatri-managed delivery experience with defined handoff and support.</a:t>
            </a:r>
            <a:endParaRPr b="0" lang="en-IN" sz="1220" spc="-1" strike="noStrike">
              <a:latin typeface="Arial"/>
            </a:endParaRPr>
          </a:p>
        </p:txBody>
      </p:sp>
      <p:sp>
        <p:nvSpPr>
          <p:cNvPr id="340" name="Shape 19"/>
          <p:cNvSpPr/>
          <p:nvPr/>
        </p:nvSpPr>
        <p:spPr>
          <a:xfrm>
            <a:off x="1078920" y="5486400"/>
            <a:ext cx="10012320" cy="603000"/>
          </a:xfrm>
          <a:prstGeom prst="roundRect">
            <a:avLst>
              <a:gd name="adj" fmla="val 12121"/>
            </a:avLst>
          </a:prstGeom>
          <a:solidFill>
            <a:srgbClr val="24211f"/>
          </a:solidFill>
          <a:ln w="12700">
            <a:solidFill>
              <a:srgbClr val="24211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Text 20"/>
          <p:cNvSpPr/>
          <p:nvPr/>
        </p:nvSpPr>
        <p:spPr>
          <a:xfrm>
            <a:off x="1389960" y="5687640"/>
            <a:ext cx="9372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“</a:t>
            </a:r>
            <a:r>
              <a:rPr b="1" lang="en-US" sz="14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I’m ordering home food — but Homaatri is the layer I trust.”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42" name="Text 21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43" name="Text 22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sldNum" idx="13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6123E96E-593D-46BC-BE05-FA6311F47A5D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&lt;number&gt;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346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09 • MARKET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47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6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The opportunity starts with recurring home meals — and expands into the broader home-food economy.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348" name="Text 2"/>
          <p:cNvSpPr/>
          <p:nvPr/>
        </p:nvSpPr>
        <p:spPr>
          <a:xfrm>
            <a:off x="594360" y="1389960"/>
            <a:ext cx="10606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We are sizing the specific home-food opportunity bottom-up; these are the market anchors around it.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9" name="Text 3"/>
          <p:cNvSpPr/>
          <p:nvPr/>
        </p:nvSpPr>
        <p:spPr>
          <a:xfrm>
            <a:off x="658440" y="205740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d33313"/>
                </a:solidFill>
                <a:latin typeface="Aptos Display"/>
                <a:ea typeface="Aptos Display"/>
              </a:rPr>
              <a:t>~₹7T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50" name="Text 4"/>
          <p:cNvSpPr/>
          <p:nvPr/>
        </p:nvSpPr>
        <p:spPr>
          <a:xfrm>
            <a:off x="658440" y="258768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e6762"/>
                </a:solidFill>
                <a:latin typeface="Aptos"/>
                <a:ea typeface="Aptos"/>
              </a:rPr>
              <a:t>India food services market • FY2025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1" name="Text 5"/>
          <p:cNvSpPr/>
          <p:nvPr/>
        </p:nvSpPr>
        <p:spPr>
          <a:xfrm>
            <a:off x="3246120" y="205740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d33313"/>
                </a:solidFill>
                <a:latin typeface="Aptos Display"/>
                <a:ea typeface="Aptos Display"/>
              </a:rPr>
              <a:t>~₹0.8T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52" name="Text 6"/>
          <p:cNvSpPr/>
          <p:nvPr/>
        </p:nvSpPr>
        <p:spPr>
          <a:xfrm>
            <a:off x="3246120" y="258768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e6762"/>
                </a:solidFill>
                <a:latin typeface="Aptos"/>
                <a:ea typeface="Aptos"/>
              </a:rPr>
              <a:t>India online food delivery • FY2025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3" name="Text 7"/>
          <p:cNvSpPr/>
          <p:nvPr/>
        </p:nvSpPr>
        <p:spPr>
          <a:xfrm>
            <a:off x="5833800" y="205740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d33313"/>
                </a:solidFill>
                <a:latin typeface="Aptos Display"/>
                <a:ea typeface="Aptos Display"/>
              </a:rPr>
              <a:t>2.21Cr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5833800" y="258768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e6762"/>
                </a:solidFill>
                <a:latin typeface="Aptos"/>
                <a:ea typeface="Aptos"/>
              </a:rPr>
              <a:t>Women-owned MSMEs registered in India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5" name="Text 9"/>
          <p:cNvSpPr/>
          <p:nvPr/>
        </p:nvSpPr>
        <p:spPr>
          <a:xfrm>
            <a:off x="8421480" y="205740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d33313"/>
                </a:solidFill>
                <a:latin typeface="Aptos Display"/>
                <a:ea typeface="Aptos Display"/>
              </a:rPr>
              <a:t>13%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56" name="Text 10"/>
          <p:cNvSpPr/>
          <p:nvPr/>
        </p:nvSpPr>
        <p:spPr>
          <a:xfrm>
            <a:off x="8421480" y="258768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e6762"/>
                </a:solidFill>
                <a:latin typeface="Aptos"/>
                <a:ea typeface="Aptos"/>
              </a:rPr>
              <a:t>Food services share of total food consumption • FY2025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7" name="Shape 11"/>
          <p:cNvSpPr/>
          <p:nvPr/>
        </p:nvSpPr>
        <p:spPr>
          <a:xfrm>
            <a:off x="777240" y="3246120"/>
            <a:ext cx="10652760" cy="360"/>
          </a:xfrm>
          <a:prstGeom prst="line">
            <a:avLst/>
          </a:prstGeom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12"/>
          <p:cNvSpPr/>
          <p:nvPr/>
        </p:nvSpPr>
        <p:spPr>
          <a:xfrm>
            <a:off x="731520" y="36118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d33313"/>
                </a:solidFill>
                <a:latin typeface="Aptos Display"/>
                <a:ea typeface="Aptos Display"/>
              </a:rPr>
              <a:t>Tiffin is the wedge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9" name="Text 13"/>
          <p:cNvSpPr/>
          <p:nvPr/>
        </p:nvSpPr>
        <p:spPr>
          <a:xfrm>
            <a:off x="731520" y="39776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6762"/>
                </a:solidFill>
                <a:latin typeface="Aptos"/>
                <a:ea typeface="Aptos"/>
              </a:rPr>
              <a:t>Recurring lunch + dinner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0" name="Shape 14"/>
          <p:cNvSpPr/>
          <p:nvPr/>
        </p:nvSpPr>
        <p:spPr>
          <a:xfrm>
            <a:off x="2788920" y="3886200"/>
            <a:ext cx="1188720" cy="360"/>
          </a:xfrm>
          <a:prstGeom prst="line">
            <a:avLst/>
          </a:prstGeom>
          <a:ln w="2540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15"/>
          <p:cNvSpPr/>
          <p:nvPr/>
        </p:nvSpPr>
        <p:spPr>
          <a:xfrm>
            <a:off x="4069080" y="36118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d6b57"/>
                </a:solidFill>
                <a:latin typeface="Aptos Display"/>
                <a:ea typeface="Aptos Display"/>
              </a:rPr>
              <a:t>Build the network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2" name="Text 16"/>
          <p:cNvSpPr/>
          <p:nvPr/>
        </p:nvSpPr>
        <p:spPr>
          <a:xfrm>
            <a:off x="4069080" y="397764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6762"/>
                </a:solidFill>
                <a:latin typeface="Aptos"/>
                <a:ea typeface="Aptos"/>
              </a:rPr>
              <a:t>Trust + density + repeat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3" name="Shape 17"/>
          <p:cNvSpPr/>
          <p:nvPr/>
        </p:nvSpPr>
        <p:spPr>
          <a:xfrm>
            <a:off x="6199560" y="3886200"/>
            <a:ext cx="1188720" cy="360"/>
          </a:xfrm>
          <a:prstGeom prst="line">
            <a:avLst/>
          </a:prstGeom>
          <a:ln w="2540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18"/>
          <p:cNvSpPr/>
          <p:nvPr/>
        </p:nvSpPr>
        <p:spPr>
          <a:xfrm>
            <a:off x="7479720" y="3611880"/>
            <a:ext cx="288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d5f78"/>
                </a:solidFill>
                <a:latin typeface="Aptos Display"/>
                <a:ea typeface="Aptos Display"/>
              </a:rPr>
              <a:t>Expand the commerce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5" name="Text 19"/>
          <p:cNvSpPr/>
          <p:nvPr/>
        </p:nvSpPr>
        <p:spPr>
          <a:xfrm>
            <a:off x="7479720" y="397764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e6762"/>
                </a:solidFill>
                <a:latin typeface="Aptos"/>
                <a:ea typeface="Aptos"/>
              </a:rPr>
              <a:t>Special meals • catering • more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6" name="Shape 20"/>
          <p:cNvSpPr/>
          <p:nvPr/>
        </p:nvSpPr>
        <p:spPr>
          <a:xfrm>
            <a:off x="1417320" y="4709160"/>
            <a:ext cx="9280800" cy="840960"/>
          </a:xfrm>
          <a:prstGeom prst="roundRect">
            <a:avLst>
              <a:gd name="adj" fmla="val 8696"/>
            </a:avLst>
          </a:prstGeom>
          <a:solidFill>
            <a:srgbClr val="f5e8e0"/>
          </a:solidFill>
          <a:ln w="12700">
            <a:solidFill>
              <a:srgbClr val="e8d4c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21"/>
          <p:cNvSpPr/>
          <p:nvPr/>
        </p:nvSpPr>
        <p:spPr>
          <a:xfrm>
            <a:off x="1691640" y="4956120"/>
            <a:ext cx="8777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4211f"/>
                </a:solidFill>
                <a:latin typeface="Aptos"/>
                <a:ea typeface="Aptos"/>
              </a:rPr>
              <a:t>TAM / SAM / SOM will be finalized from a bottom-up model: target homemakers × realistic annual GMV, cross-checked against published home-food estimates.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68" name="Text 22"/>
          <p:cNvSpPr/>
          <p:nvPr/>
        </p:nvSpPr>
        <p:spPr>
          <a:xfrm>
            <a:off x="1920240" y="5897880"/>
            <a:ext cx="8320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6e6762"/>
                </a:solidFill>
                <a:latin typeface="Aptos"/>
                <a:ea typeface="Aptos"/>
              </a:rPr>
              <a:t>Market anchors from the current deck: Swiggy / Redseer; PIB women-owned MSME data.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69" name="Text 23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70" name="Text 24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sldNum" idx="14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5A77148F-8356-40D6-A7CC-1429A13DA07E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&lt;number&gt;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373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10 • COMPETITION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74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The market is real — but the category is still being defined.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375" name="Text 2"/>
          <p:cNvSpPr/>
          <p:nvPr/>
        </p:nvSpPr>
        <p:spPr>
          <a:xfrm>
            <a:off x="594360" y="1389960"/>
            <a:ext cx="10606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e6762"/>
                </a:solidFill>
                <a:latin typeface="Aptos"/>
                <a:ea typeface="Aptos"/>
              </a:rPr>
              <a:t>Homaatri is designed to combine the recurring tiffin model with brand-building, trust and managed delivery.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6" name="Shape 3"/>
          <p:cNvSpPr/>
          <p:nvPr/>
        </p:nvSpPr>
        <p:spPr>
          <a:xfrm>
            <a:off x="502920" y="1965960"/>
            <a:ext cx="1142640" cy="566640"/>
          </a:xfrm>
          <a:prstGeom prst="rect">
            <a:avLst/>
          </a:prstGeom>
          <a:solidFill>
            <a:srgbClr val="efe6de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 4"/>
          <p:cNvSpPr/>
          <p:nvPr/>
        </p:nvSpPr>
        <p:spPr>
          <a:xfrm>
            <a:off x="548640" y="213984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Platform</a:t>
            </a:r>
            <a:endParaRPr b="0" lang="en-IN" sz="830" spc="-1" strike="noStrike">
              <a:latin typeface="Arial"/>
            </a:endParaRPr>
          </a:p>
        </p:txBody>
      </p:sp>
      <p:sp>
        <p:nvSpPr>
          <p:cNvPr id="378" name="Shape 5"/>
          <p:cNvSpPr/>
          <p:nvPr/>
        </p:nvSpPr>
        <p:spPr>
          <a:xfrm>
            <a:off x="1645920" y="1965960"/>
            <a:ext cx="2285640" cy="566640"/>
          </a:xfrm>
          <a:prstGeom prst="rect">
            <a:avLst/>
          </a:prstGeom>
          <a:solidFill>
            <a:srgbClr val="e9ded5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Text 6"/>
          <p:cNvSpPr/>
          <p:nvPr/>
        </p:nvSpPr>
        <p:spPr>
          <a:xfrm>
            <a:off x="1691640" y="21398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0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Home-food</a:t>
            </a:r>
            <a:endParaRPr b="0" lang="en-IN" sz="8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marketplace</a:t>
            </a:r>
            <a:endParaRPr b="0" lang="en-IN" sz="830" spc="-1" strike="noStrike">
              <a:latin typeface="Arial"/>
            </a:endParaRPr>
          </a:p>
        </p:txBody>
      </p:sp>
      <p:sp>
        <p:nvSpPr>
          <p:cNvPr id="380" name="Shape 7"/>
          <p:cNvSpPr/>
          <p:nvPr/>
        </p:nvSpPr>
        <p:spPr>
          <a:xfrm>
            <a:off x="3931920" y="1965960"/>
            <a:ext cx="1645560" cy="566640"/>
          </a:xfrm>
          <a:prstGeom prst="rect">
            <a:avLst/>
          </a:prstGeom>
          <a:solidFill>
            <a:srgbClr val="e9ded5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8"/>
          <p:cNvSpPr/>
          <p:nvPr/>
        </p:nvSpPr>
        <p:spPr>
          <a:xfrm>
            <a:off x="3977640" y="213984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0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Chef business</a:t>
            </a:r>
            <a:endParaRPr b="0" lang="en-IN" sz="8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tools</a:t>
            </a:r>
            <a:endParaRPr b="0" lang="en-IN" sz="830" spc="-1" strike="noStrike">
              <a:latin typeface="Arial"/>
            </a:endParaRPr>
          </a:p>
        </p:txBody>
      </p:sp>
      <p:sp>
        <p:nvSpPr>
          <p:cNvPr id="382" name="Shape 9"/>
          <p:cNvSpPr/>
          <p:nvPr/>
        </p:nvSpPr>
        <p:spPr>
          <a:xfrm>
            <a:off x="5577840" y="1965960"/>
            <a:ext cx="1462680" cy="566640"/>
          </a:xfrm>
          <a:prstGeom prst="rect">
            <a:avLst/>
          </a:prstGeom>
          <a:solidFill>
            <a:srgbClr val="e9ded5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Text 10"/>
          <p:cNvSpPr/>
          <p:nvPr/>
        </p:nvSpPr>
        <p:spPr>
          <a:xfrm>
            <a:off x="5623560" y="21398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0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Social /</a:t>
            </a:r>
            <a:endParaRPr b="0" lang="en-IN" sz="8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community</a:t>
            </a:r>
            <a:endParaRPr b="0" lang="en-IN" sz="830" spc="-1" strike="noStrike">
              <a:latin typeface="Arial"/>
            </a:endParaRPr>
          </a:p>
        </p:txBody>
      </p:sp>
      <p:sp>
        <p:nvSpPr>
          <p:cNvPr id="384" name="Shape 11"/>
          <p:cNvSpPr/>
          <p:nvPr/>
        </p:nvSpPr>
        <p:spPr>
          <a:xfrm>
            <a:off x="7040880" y="1965960"/>
            <a:ext cx="1645560" cy="566640"/>
          </a:xfrm>
          <a:prstGeom prst="rect">
            <a:avLst/>
          </a:prstGeom>
          <a:solidFill>
            <a:srgbClr val="e9ded5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Text 12"/>
          <p:cNvSpPr/>
          <p:nvPr/>
        </p:nvSpPr>
        <p:spPr>
          <a:xfrm>
            <a:off x="7086600" y="213984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0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Brand + content</a:t>
            </a:r>
            <a:endParaRPr b="0" lang="en-IN" sz="8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support</a:t>
            </a:r>
            <a:endParaRPr b="0" lang="en-IN" sz="830" spc="-1" strike="noStrike">
              <a:latin typeface="Arial"/>
            </a:endParaRPr>
          </a:p>
        </p:txBody>
      </p:sp>
      <p:sp>
        <p:nvSpPr>
          <p:cNvPr id="386" name="Shape 13"/>
          <p:cNvSpPr/>
          <p:nvPr/>
        </p:nvSpPr>
        <p:spPr>
          <a:xfrm>
            <a:off x="8686800" y="1965960"/>
            <a:ext cx="1416960" cy="566640"/>
          </a:xfrm>
          <a:prstGeom prst="rect">
            <a:avLst/>
          </a:prstGeom>
          <a:solidFill>
            <a:srgbClr val="e9ded5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Text 14"/>
          <p:cNvSpPr/>
          <p:nvPr/>
        </p:nvSpPr>
        <p:spPr>
          <a:xfrm>
            <a:off x="8732520" y="2139840"/>
            <a:ext cx="1325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0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Recurring</a:t>
            </a:r>
            <a:endParaRPr b="0" lang="en-IN" sz="8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tiffin</a:t>
            </a:r>
            <a:endParaRPr b="0" lang="en-IN" sz="830" spc="-1" strike="noStrike">
              <a:latin typeface="Arial"/>
            </a:endParaRPr>
          </a:p>
        </p:txBody>
      </p:sp>
      <p:sp>
        <p:nvSpPr>
          <p:cNvPr id="388" name="Shape 15"/>
          <p:cNvSpPr/>
          <p:nvPr/>
        </p:nvSpPr>
        <p:spPr>
          <a:xfrm>
            <a:off x="10104120" y="1965960"/>
            <a:ext cx="1965600" cy="566640"/>
          </a:xfrm>
          <a:prstGeom prst="rect">
            <a:avLst/>
          </a:prstGeom>
          <a:solidFill>
            <a:srgbClr val="e9ded5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Text 16"/>
          <p:cNvSpPr/>
          <p:nvPr/>
        </p:nvSpPr>
        <p:spPr>
          <a:xfrm>
            <a:off x="10149840" y="2139840"/>
            <a:ext cx="1874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0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Managed trust +</a:t>
            </a:r>
            <a:endParaRPr b="0" lang="en-IN" sz="83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30" spc="-1" strike="noStrike">
                <a:solidFill>
                  <a:srgbClr val="24211f"/>
                </a:solidFill>
                <a:latin typeface="Aptos"/>
                <a:ea typeface="Aptos"/>
              </a:rPr>
              <a:t>delivery</a:t>
            </a:r>
            <a:endParaRPr b="0" lang="en-IN" sz="830" spc="-1" strike="noStrike">
              <a:latin typeface="Arial"/>
            </a:endParaRPr>
          </a:p>
        </p:txBody>
      </p:sp>
      <p:sp>
        <p:nvSpPr>
          <p:cNvPr id="390" name="Shape 17"/>
          <p:cNvSpPr/>
          <p:nvPr/>
        </p:nvSpPr>
        <p:spPr>
          <a:xfrm>
            <a:off x="502920" y="2532960"/>
            <a:ext cx="1142640" cy="502560"/>
          </a:xfrm>
          <a:prstGeom prst="rect">
            <a:avLst/>
          </a:prstGeom>
          <a:solidFill>
            <a:srgbClr val="f3ece7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18"/>
          <p:cNvSpPr/>
          <p:nvPr/>
        </p:nvSpPr>
        <p:spPr>
          <a:xfrm>
            <a:off x="539640" y="2697480"/>
            <a:ext cx="1069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60" spc="-1" strike="noStrike">
                <a:solidFill>
                  <a:srgbClr val="24211f"/>
                </a:solidFill>
                <a:latin typeface="Aptos"/>
                <a:ea typeface="Aptos"/>
              </a:rPr>
              <a:t>Zomato / Swiggy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392" name="Shape 19"/>
          <p:cNvSpPr/>
          <p:nvPr/>
        </p:nvSpPr>
        <p:spPr>
          <a:xfrm>
            <a:off x="1645920" y="2532960"/>
            <a:ext cx="2285640" cy="502560"/>
          </a:xfrm>
          <a:prstGeom prst="rect">
            <a:avLst/>
          </a:prstGeom>
          <a:solidFill>
            <a:srgbClr val="f3ece7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Text 20"/>
          <p:cNvSpPr/>
          <p:nvPr/>
        </p:nvSpPr>
        <p:spPr>
          <a:xfrm>
            <a:off x="1682640" y="2697480"/>
            <a:ext cx="2212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394" name="Shape 21"/>
          <p:cNvSpPr/>
          <p:nvPr/>
        </p:nvSpPr>
        <p:spPr>
          <a:xfrm>
            <a:off x="3931920" y="2532960"/>
            <a:ext cx="1645560" cy="502560"/>
          </a:xfrm>
          <a:prstGeom prst="rect">
            <a:avLst/>
          </a:prstGeom>
          <a:solidFill>
            <a:srgbClr val="f3ece7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Text 22"/>
          <p:cNvSpPr/>
          <p:nvPr/>
        </p:nvSpPr>
        <p:spPr>
          <a:xfrm>
            <a:off x="3968640" y="269748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—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396" name="Shape 23"/>
          <p:cNvSpPr/>
          <p:nvPr/>
        </p:nvSpPr>
        <p:spPr>
          <a:xfrm>
            <a:off x="5577840" y="2532960"/>
            <a:ext cx="1462680" cy="502560"/>
          </a:xfrm>
          <a:prstGeom prst="rect">
            <a:avLst/>
          </a:prstGeom>
          <a:solidFill>
            <a:srgbClr val="f3ece7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Text 24"/>
          <p:cNvSpPr/>
          <p:nvPr/>
        </p:nvSpPr>
        <p:spPr>
          <a:xfrm>
            <a:off x="5614560" y="2697480"/>
            <a:ext cx="138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—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398" name="Shape 25"/>
          <p:cNvSpPr/>
          <p:nvPr/>
        </p:nvSpPr>
        <p:spPr>
          <a:xfrm>
            <a:off x="7040880" y="2532960"/>
            <a:ext cx="1645560" cy="502560"/>
          </a:xfrm>
          <a:prstGeom prst="rect">
            <a:avLst/>
          </a:prstGeom>
          <a:solidFill>
            <a:srgbClr val="f3ece7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Text 26"/>
          <p:cNvSpPr/>
          <p:nvPr/>
        </p:nvSpPr>
        <p:spPr>
          <a:xfrm>
            <a:off x="7077600" y="269748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—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00" name="Shape 27"/>
          <p:cNvSpPr/>
          <p:nvPr/>
        </p:nvSpPr>
        <p:spPr>
          <a:xfrm>
            <a:off x="8686800" y="2532960"/>
            <a:ext cx="1416960" cy="502560"/>
          </a:xfrm>
          <a:prstGeom prst="rect">
            <a:avLst/>
          </a:prstGeom>
          <a:solidFill>
            <a:srgbClr val="f3ece7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Text 28"/>
          <p:cNvSpPr/>
          <p:nvPr/>
        </p:nvSpPr>
        <p:spPr>
          <a:xfrm>
            <a:off x="8723520" y="2697480"/>
            <a:ext cx="134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—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02" name="Shape 29"/>
          <p:cNvSpPr/>
          <p:nvPr/>
        </p:nvSpPr>
        <p:spPr>
          <a:xfrm>
            <a:off x="10104120" y="2532960"/>
            <a:ext cx="1965600" cy="502560"/>
          </a:xfrm>
          <a:prstGeom prst="rect">
            <a:avLst/>
          </a:prstGeom>
          <a:solidFill>
            <a:srgbClr val="f3ece7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Text 30"/>
          <p:cNvSpPr/>
          <p:nvPr/>
        </p:nvSpPr>
        <p:spPr>
          <a:xfrm>
            <a:off x="10140840" y="2697480"/>
            <a:ext cx="189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04" name="Shape 31"/>
          <p:cNvSpPr/>
          <p:nvPr/>
        </p:nvSpPr>
        <p:spPr>
          <a:xfrm>
            <a:off x="502920" y="3035880"/>
            <a:ext cx="114264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Text 32"/>
          <p:cNvSpPr/>
          <p:nvPr/>
        </p:nvSpPr>
        <p:spPr>
          <a:xfrm>
            <a:off x="539640" y="3200400"/>
            <a:ext cx="1069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60" spc="-1" strike="noStrike">
                <a:solidFill>
                  <a:srgbClr val="24211f"/>
                </a:solidFill>
                <a:latin typeface="Aptos"/>
                <a:ea typeface="Aptos"/>
              </a:rPr>
              <a:t>HomeFoodi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06" name="Shape 33"/>
          <p:cNvSpPr/>
          <p:nvPr/>
        </p:nvSpPr>
        <p:spPr>
          <a:xfrm>
            <a:off x="1645920" y="3035880"/>
            <a:ext cx="228564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 34"/>
          <p:cNvSpPr/>
          <p:nvPr/>
        </p:nvSpPr>
        <p:spPr>
          <a:xfrm>
            <a:off x="1682640" y="3200400"/>
            <a:ext cx="2212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08" name="Shape 35"/>
          <p:cNvSpPr/>
          <p:nvPr/>
        </p:nvSpPr>
        <p:spPr>
          <a:xfrm>
            <a:off x="3931920" y="3035880"/>
            <a:ext cx="164556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Text 36"/>
          <p:cNvSpPr/>
          <p:nvPr/>
        </p:nvSpPr>
        <p:spPr>
          <a:xfrm>
            <a:off x="3968640" y="320040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10" name="Shape 37"/>
          <p:cNvSpPr/>
          <p:nvPr/>
        </p:nvSpPr>
        <p:spPr>
          <a:xfrm>
            <a:off x="5577840" y="3035880"/>
            <a:ext cx="146268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Text 38"/>
          <p:cNvSpPr/>
          <p:nvPr/>
        </p:nvSpPr>
        <p:spPr>
          <a:xfrm>
            <a:off x="5614560" y="3200400"/>
            <a:ext cx="138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—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12" name="Shape 39"/>
          <p:cNvSpPr/>
          <p:nvPr/>
        </p:nvSpPr>
        <p:spPr>
          <a:xfrm>
            <a:off x="7040880" y="3035880"/>
            <a:ext cx="164556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Text 40"/>
          <p:cNvSpPr/>
          <p:nvPr/>
        </p:nvSpPr>
        <p:spPr>
          <a:xfrm>
            <a:off x="7077600" y="320040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—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14" name="Shape 41"/>
          <p:cNvSpPr/>
          <p:nvPr/>
        </p:nvSpPr>
        <p:spPr>
          <a:xfrm>
            <a:off x="8686800" y="3035880"/>
            <a:ext cx="141696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42"/>
          <p:cNvSpPr/>
          <p:nvPr/>
        </p:nvSpPr>
        <p:spPr>
          <a:xfrm>
            <a:off x="8723520" y="3200400"/>
            <a:ext cx="134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16" name="Shape 43"/>
          <p:cNvSpPr/>
          <p:nvPr/>
        </p:nvSpPr>
        <p:spPr>
          <a:xfrm>
            <a:off x="10104120" y="3035880"/>
            <a:ext cx="196560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Text 44"/>
          <p:cNvSpPr/>
          <p:nvPr/>
        </p:nvSpPr>
        <p:spPr>
          <a:xfrm>
            <a:off x="10140840" y="3200400"/>
            <a:ext cx="189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18" name="Shape 45"/>
          <p:cNvSpPr/>
          <p:nvPr/>
        </p:nvSpPr>
        <p:spPr>
          <a:xfrm>
            <a:off x="502920" y="3538800"/>
            <a:ext cx="114264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Text 46"/>
          <p:cNvSpPr/>
          <p:nvPr/>
        </p:nvSpPr>
        <p:spPr>
          <a:xfrm>
            <a:off x="539640" y="3703320"/>
            <a:ext cx="1069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60" spc="-1" strike="noStrike">
                <a:solidFill>
                  <a:srgbClr val="24211f"/>
                </a:solidFill>
                <a:latin typeface="Aptos"/>
                <a:ea typeface="Aptos"/>
              </a:rPr>
              <a:t>Soru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20" name="Shape 47"/>
          <p:cNvSpPr/>
          <p:nvPr/>
        </p:nvSpPr>
        <p:spPr>
          <a:xfrm>
            <a:off x="1645920" y="3538800"/>
            <a:ext cx="228564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Text 48"/>
          <p:cNvSpPr/>
          <p:nvPr/>
        </p:nvSpPr>
        <p:spPr>
          <a:xfrm>
            <a:off x="1682640" y="3703320"/>
            <a:ext cx="2212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22" name="Shape 49"/>
          <p:cNvSpPr/>
          <p:nvPr/>
        </p:nvSpPr>
        <p:spPr>
          <a:xfrm>
            <a:off x="3931920" y="3538800"/>
            <a:ext cx="164556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Text 50"/>
          <p:cNvSpPr/>
          <p:nvPr/>
        </p:nvSpPr>
        <p:spPr>
          <a:xfrm>
            <a:off x="3968640" y="370332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24" name="Shape 51"/>
          <p:cNvSpPr/>
          <p:nvPr/>
        </p:nvSpPr>
        <p:spPr>
          <a:xfrm>
            <a:off x="5577840" y="3538800"/>
            <a:ext cx="146268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Text 52"/>
          <p:cNvSpPr/>
          <p:nvPr/>
        </p:nvSpPr>
        <p:spPr>
          <a:xfrm>
            <a:off x="5614560" y="3703320"/>
            <a:ext cx="138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26" name="Shape 53"/>
          <p:cNvSpPr/>
          <p:nvPr/>
        </p:nvSpPr>
        <p:spPr>
          <a:xfrm>
            <a:off x="7040880" y="3538800"/>
            <a:ext cx="164556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Text 54"/>
          <p:cNvSpPr/>
          <p:nvPr/>
        </p:nvSpPr>
        <p:spPr>
          <a:xfrm>
            <a:off x="7077600" y="370332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28" name="Shape 55"/>
          <p:cNvSpPr/>
          <p:nvPr/>
        </p:nvSpPr>
        <p:spPr>
          <a:xfrm>
            <a:off x="8686800" y="3538800"/>
            <a:ext cx="141696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Text 56"/>
          <p:cNvSpPr/>
          <p:nvPr/>
        </p:nvSpPr>
        <p:spPr>
          <a:xfrm>
            <a:off x="8723520" y="3703320"/>
            <a:ext cx="134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30" name="Shape 57"/>
          <p:cNvSpPr/>
          <p:nvPr/>
        </p:nvSpPr>
        <p:spPr>
          <a:xfrm>
            <a:off x="10104120" y="3538800"/>
            <a:ext cx="196560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 58"/>
          <p:cNvSpPr/>
          <p:nvPr/>
        </p:nvSpPr>
        <p:spPr>
          <a:xfrm>
            <a:off x="10140840" y="3703320"/>
            <a:ext cx="189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32" name="Shape 59"/>
          <p:cNvSpPr/>
          <p:nvPr/>
        </p:nvSpPr>
        <p:spPr>
          <a:xfrm>
            <a:off x="502920" y="4041720"/>
            <a:ext cx="114264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 60"/>
          <p:cNvSpPr/>
          <p:nvPr/>
        </p:nvSpPr>
        <p:spPr>
          <a:xfrm>
            <a:off x="539640" y="4206240"/>
            <a:ext cx="1069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60" spc="-1" strike="noStrike">
                <a:solidFill>
                  <a:srgbClr val="24211f"/>
                </a:solidFill>
                <a:latin typeface="Aptos"/>
                <a:ea typeface="Aptos"/>
              </a:rPr>
              <a:t>HomeStove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34" name="Shape 61"/>
          <p:cNvSpPr/>
          <p:nvPr/>
        </p:nvSpPr>
        <p:spPr>
          <a:xfrm>
            <a:off x="1645920" y="4041720"/>
            <a:ext cx="228564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Text 62"/>
          <p:cNvSpPr/>
          <p:nvPr/>
        </p:nvSpPr>
        <p:spPr>
          <a:xfrm>
            <a:off x="1682640" y="4206240"/>
            <a:ext cx="2212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36" name="Shape 63"/>
          <p:cNvSpPr/>
          <p:nvPr/>
        </p:nvSpPr>
        <p:spPr>
          <a:xfrm>
            <a:off x="3931920" y="4041720"/>
            <a:ext cx="164556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Text 64"/>
          <p:cNvSpPr/>
          <p:nvPr/>
        </p:nvSpPr>
        <p:spPr>
          <a:xfrm>
            <a:off x="3968640" y="420624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38" name="Shape 65"/>
          <p:cNvSpPr/>
          <p:nvPr/>
        </p:nvSpPr>
        <p:spPr>
          <a:xfrm>
            <a:off x="5577840" y="4041720"/>
            <a:ext cx="146268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Text 66"/>
          <p:cNvSpPr/>
          <p:nvPr/>
        </p:nvSpPr>
        <p:spPr>
          <a:xfrm>
            <a:off x="5614560" y="4206240"/>
            <a:ext cx="138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40" name="Shape 67"/>
          <p:cNvSpPr/>
          <p:nvPr/>
        </p:nvSpPr>
        <p:spPr>
          <a:xfrm>
            <a:off x="7040880" y="4041720"/>
            <a:ext cx="164556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Text 68"/>
          <p:cNvSpPr/>
          <p:nvPr/>
        </p:nvSpPr>
        <p:spPr>
          <a:xfrm>
            <a:off x="7077600" y="420624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42" name="Shape 69"/>
          <p:cNvSpPr/>
          <p:nvPr/>
        </p:nvSpPr>
        <p:spPr>
          <a:xfrm>
            <a:off x="8686800" y="4041720"/>
            <a:ext cx="141696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Text 70"/>
          <p:cNvSpPr/>
          <p:nvPr/>
        </p:nvSpPr>
        <p:spPr>
          <a:xfrm>
            <a:off x="8723520" y="4206240"/>
            <a:ext cx="134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44" name="Shape 71"/>
          <p:cNvSpPr/>
          <p:nvPr/>
        </p:nvSpPr>
        <p:spPr>
          <a:xfrm>
            <a:off x="10104120" y="4041720"/>
            <a:ext cx="196560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Text 72"/>
          <p:cNvSpPr/>
          <p:nvPr/>
        </p:nvSpPr>
        <p:spPr>
          <a:xfrm>
            <a:off x="10140840" y="4206240"/>
            <a:ext cx="189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46" name="Shape 73"/>
          <p:cNvSpPr/>
          <p:nvPr/>
        </p:nvSpPr>
        <p:spPr>
          <a:xfrm>
            <a:off x="502920" y="4544640"/>
            <a:ext cx="114264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Text 74"/>
          <p:cNvSpPr/>
          <p:nvPr/>
        </p:nvSpPr>
        <p:spPr>
          <a:xfrm>
            <a:off x="539640" y="4709160"/>
            <a:ext cx="1069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60" spc="-1" strike="noStrike">
                <a:solidFill>
                  <a:srgbClr val="24211f"/>
                </a:solidFill>
                <a:latin typeface="Aptos"/>
                <a:ea typeface="Aptos"/>
              </a:rPr>
              <a:t>TasteHood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48" name="Shape 75"/>
          <p:cNvSpPr/>
          <p:nvPr/>
        </p:nvSpPr>
        <p:spPr>
          <a:xfrm>
            <a:off x="1645920" y="4544640"/>
            <a:ext cx="228564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Text 76"/>
          <p:cNvSpPr/>
          <p:nvPr/>
        </p:nvSpPr>
        <p:spPr>
          <a:xfrm>
            <a:off x="1682640" y="4709160"/>
            <a:ext cx="2212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50" name="Shape 77"/>
          <p:cNvSpPr/>
          <p:nvPr/>
        </p:nvSpPr>
        <p:spPr>
          <a:xfrm>
            <a:off x="3931920" y="4544640"/>
            <a:ext cx="164556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Text 78"/>
          <p:cNvSpPr/>
          <p:nvPr/>
        </p:nvSpPr>
        <p:spPr>
          <a:xfrm>
            <a:off x="3968640" y="470916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52" name="Shape 79"/>
          <p:cNvSpPr/>
          <p:nvPr/>
        </p:nvSpPr>
        <p:spPr>
          <a:xfrm>
            <a:off x="5577840" y="4544640"/>
            <a:ext cx="146268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Text 80"/>
          <p:cNvSpPr/>
          <p:nvPr/>
        </p:nvSpPr>
        <p:spPr>
          <a:xfrm>
            <a:off x="5614560" y="4709160"/>
            <a:ext cx="138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54" name="Shape 81"/>
          <p:cNvSpPr/>
          <p:nvPr/>
        </p:nvSpPr>
        <p:spPr>
          <a:xfrm>
            <a:off x="7040880" y="4544640"/>
            <a:ext cx="164556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Text 82"/>
          <p:cNvSpPr/>
          <p:nvPr/>
        </p:nvSpPr>
        <p:spPr>
          <a:xfrm>
            <a:off x="7077600" y="470916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—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56" name="Shape 83"/>
          <p:cNvSpPr/>
          <p:nvPr/>
        </p:nvSpPr>
        <p:spPr>
          <a:xfrm>
            <a:off x="8686800" y="4544640"/>
            <a:ext cx="141696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Text 84"/>
          <p:cNvSpPr/>
          <p:nvPr/>
        </p:nvSpPr>
        <p:spPr>
          <a:xfrm>
            <a:off x="8723520" y="4709160"/>
            <a:ext cx="134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58" name="Shape 85"/>
          <p:cNvSpPr/>
          <p:nvPr/>
        </p:nvSpPr>
        <p:spPr>
          <a:xfrm>
            <a:off x="10104120" y="4544640"/>
            <a:ext cx="1965600" cy="502560"/>
          </a:xfrm>
          <a:prstGeom prst="rect">
            <a:avLst/>
          </a:prstGeom>
          <a:solidFill>
            <a:srgbClr val="fbf8f5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 86"/>
          <p:cNvSpPr/>
          <p:nvPr/>
        </p:nvSpPr>
        <p:spPr>
          <a:xfrm>
            <a:off x="10140840" y="4709160"/>
            <a:ext cx="189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60" name="Shape 87"/>
          <p:cNvSpPr/>
          <p:nvPr/>
        </p:nvSpPr>
        <p:spPr>
          <a:xfrm>
            <a:off x="502920" y="5047560"/>
            <a:ext cx="114264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Text 88"/>
          <p:cNvSpPr/>
          <p:nvPr/>
        </p:nvSpPr>
        <p:spPr>
          <a:xfrm>
            <a:off x="539640" y="5212080"/>
            <a:ext cx="1069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60" spc="-1" strike="noStrike">
                <a:solidFill>
                  <a:srgbClr val="24211f"/>
                </a:solidFill>
                <a:latin typeface="Aptos"/>
                <a:ea typeface="Aptos"/>
              </a:rPr>
              <a:t>THOOOS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62" name="Shape 89"/>
          <p:cNvSpPr/>
          <p:nvPr/>
        </p:nvSpPr>
        <p:spPr>
          <a:xfrm>
            <a:off x="1645920" y="5047560"/>
            <a:ext cx="228564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Text 90"/>
          <p:cNvSpPr/>
          <p:nvPr/>
        </p:nvSpPr>
        <p:spPr>
          <a:xfrm>
            <a:off x="1682640" y="5212080"/>
            <a:ext cx="2212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64" name="Shape 91"/>
          <p:cNvSpPr/>
          <p:nvPr/>
        </p:nvSpPr>
        <p:spPr>
          <a:xfrm>
            <a:off x="3931920" y="5047560"/>
            <a:ext cx="164556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Text 92"/>
          <p:cNvSpPr/>
          <p:nvPr/>
        </p:nvSpPr>
        <p:spPr>
          <a:xfrm>
            <a:off x="3968640" y="521208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66" name="Shape 93"/>
          <p:cNvSpPr/>
          <p:nvPr/>
        </p:nvSpPr>
        <p:spPr>
          <a:xfrm>
            <a:off x="5577840" y="5047560"/>
            <a:ext cx="146268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94"/>
          <p:cNvSpPr/>
          <p:nvPr/>
        </p:nvSpPr>
        <p:spPr>
          <a:xfrm>
            <a:off x="5614560" y="5212080"/>
            <a:ext cx="138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68" name="Shape 95"/>
          <p:cNvSpPr/>
          <p:nvPr/>
        </p:nvSpPr>
        <p:spPr>
          <a:xfrm>
            <a:off x="7040880" y="5047560"/>
            <a:ext cx="164556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Text 96"/>
          <p:cNvSpPr/>
          <p:nvPr/>
        </p:nvSpPr>
        <p:spPr>
          <a:xfrm>
            <a:off x="7077600" y="521208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—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70" name="Shape 97"/>
          <p:cNvSpPr/>
          <p:nvPr/>
        </p:nvSpPr>
        <p:spPr>
          <a:xfrm>
            <a:off x="8686800" y="5047560"/>
            <a:ext cx="141696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Text 98"/>
          <p:cNvSpPr/>
          <p:nvPr/>
        </p:nvSpPr>
        <p:spPr>
          <a:xfrm>
            <a:off x="8723520" y="5212080"/>
            <a:ext cx="134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72" name="Shape 99"/>
          <p:cNvSpPr/>
          <p:nvPr/>
        </p:nvSpPr>
        <p:spPr>
          <a:xfrm>
            <a:off x="10104120" y="5047560"/>
            <a:ext cx="1965600" cy="502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Text 100"/>
          <p:cNvSpPr/>
          <p:nvPr/>
        </p:nvSpPr>
        <p:spPr>
          <a:xfrm>
            <a:off x="10140840" y="5212080"/>
            <a:ext cx="189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24211f"/>
                </a:solidFill>
                <a:latin typeface="Aptos"/>
                <a:ea typeface="Aptos"/>
              </a:rPr>
              <a:t>~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74" name="Shape 101"/>
          <p:cNvSpPr/>
          <p:nvPr/>
        </p:nvSpPr>
        <p:spPr>
          <a:xfrm>
            <a:off x="502920" y="5550480"/>
            <a:ext cx="1142640" cy="502560"/>
          </a:xfrm>
          <a:prstGeom prst="rect">
            <a:avLst/>
          </a:prstGeom>
          <a:solidFill>
            <a:srgbClr val="d33313"/>
          </a:solidFill>
          <a:ln w="1524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Text 102"/>
          <p:cNvSpPr/>
          <p:nvPr/>
        </p:nvSpPr>
        <p:spPr>
          <a:xfrm>
            <a:off x="539640" y="5715000"/>
            <a:ext cx="1069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60" spc="-1" strike="noStrike">
                <a:solidFill>
                  <a:srgbClr val="ffffff"/>
                </a:solidFill>
                <a:latin typeface="Aptos"/>
                <a:ea typeface="Aptos"/>
              </a:rPr>
              <a:t>HOMAATRI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76" name="Shape 103"/>
          <p:cNvSpPr/>
          <p:nvPr/>
        </p:nvSpPr>
        <p:spPr>
          <a:xfrm>
            <a:off x="1645920" y="5550480"/>
            <a:ext cx="2285640" cy="502560"/>
          </a:xfrm>
          <a:prstGeom prst="rect">
            <a:avLst/>
          </a:prstGeom>
          <a:solidFill>
            <a:srgbClr val="d33313"/>
          </a:solidFill>
          <a:ln w="1524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Text 104"/>
          <p:cNvSpPr/>
          <p:nvPr/>
        </p:nvSpPr>
        <p:spPr>
          <a:xfrm>
            <a:off x="1682640" y="5715000"/>
            <a:ext cx="2212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20" spc="-1" strike="noStrike">
                <a:solidFill>
                  <a:srgbClr val="fffff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78" name="Shape 105"/>
          <p:cNvSpPr/>
          <p:nvPr/>
        </p:nvSpPr>
        <p:spPr>
          <a:xfrm>
            <a:off x="3931920" y="5550480"/>
            <a:ext cx="1645560" cy="502560"/>
          </a:xfrm>
          <a:prstGeom prst="rect">
            <a:avLst/>
          </a:prstGeom>
          <a:solidFill>
            <a:srgbClr val="d33313"/>
          </a:solidFill>
          <a:ln w="1524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Text 106"/>
          <p:cNvSpPr/>
          <p:nvPr/>
        </p:nvSpPr>
        <p:spPr>
          <a:xfrm>
            <a:off x="3968640" y="571500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20" spc="-1" strike="noStrike">
                <a:solidFill>
                  <a:srgbClr val="fffff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80" name="Shape 107"/>
          <p:cNvSpPr/>
          <p:nvPr/>
        </p:nvSpPr>
        <p:spPr>
          <a:xfrm>
            <a:off x="5577840" y="5550480"/>
            <a:ext cx="1462680" cy="502560"/>
          </a:xfrm>
          <a:prstGeom prst="rect">
            <a:avLst/>
          </a:prstGeom>
          <a:solidFill>
            <a:srgbClr val="d33313"/>
          </a:solidFill>
          <a:ln w="1524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Text 108"/>
          <p:cNvSpPr/>
          <p:nvPr/>
        </p:nvSpPr>
        <p:spPr>
          <a:xfrm>
            <a:off x="5614560" y="5715000"/>
            <a:ext cx="1389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20" spc="-1" strike="noStrike">
                <a:solidFill>
                  <a:srgbClr val="fffff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82" name="Shape 109"/>
          <p:cNvSpPr/>
          <p:nvPr/>
        </p:nvSpPr>
        <p:spPr>
          <a:xfrm>
            <a:off x="7040880" y="5550480"/>
            <a:ext cx="1645560" cy="502560"/>
          </a:xfrm>
          <a:prstGeom prst="rect">
            <a:avLst/>
          </a:prstGeom>
          <a:solidFill>
            <a:srgbClr val="d33313"/>
          </a:solidFill>
          <a:ln w="1524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Text 110"/>
          <p:cNvSpPr/>
          <p:nvPr/>
        </p:nvSpPr>
        <p:spPr>
          <a:xfrm>
            <a:off x="7077600" y="5715000"/>
            <a:ext cx="1572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20" spc="-1" strike="noStrike">
                <a:solidFill>
                  <a:srgbClr val="fffff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84" name="Shape 111"/>
          <p:cNvSpPr/>
          <p:nvPr/>
        </p:nvSpPr>
        <p:spPr>
          <a:xfrm>
            <a:off x="8686800" y="5550480"/>
            <a:ext cx="1416960" cy="502560"/>
          </a:xfrm>
          <a:prstGeom prst="rect">
            <a:avLst/>
          </a:prstGeom>
          <a:solidFill>
            <a:srgbClr val="d33313"/>
          </a:solidFill>
          <a:ln w="1524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Text 112"/>
          <p:cNvSpPr/>
          <p:nvPr/>
        </p:nvSpPr>
        <p:spPr>
          <a:xfrm>
            <a:off x="8723520" y="5715000"/>
            <a:ext cx="1343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20" spc="-1" strike="noStrike">
                <a:solidFill>
                  <a:srgbClr val="fffff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86" name="Shape 113"/>
          <p:cNvSpPr/>
          <p:nvPr/>
        </p:nvSpPr>
        <p:spPr>
          <a:xfrm>
            <a:off x="10104120" y="5550480"/>
            <a:ext cx="1965600" cy="502560"/>
          </a:xfrm>
          <a:prstGeom prst="rect">
            <a:avLst/>
          </a:prstGeom>
          <a:solidFill>
            <a:srgbClr val="d33313"/>
          </a:solidFill>
          <a:ln w="1524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7" name="Text 114"/>
          <p:cNvSpPr/>
          <p:nvPr/>
        </p:nvSpPr>
        <p:spPr>
          <a:xfrm>
            <a:off x="10140840" y="5715000"/>
            <a:ext cx="189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20" spc="-1" strike="noStrike">
                <a:solidFill>
                  <a:srgbClr val="ffffff"/>
                </a:solidFill>
                <a:latin typeface="Aptos"/>
                <a:ea typeface="Aptos"/>
              </a:rPr>
              <a:t>✓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488" name="Text 115"/>
          <p:cNvSpPr/>
          <p:nvPr/>
        </p:nvSpPr>
        <p:spPr>
          <a:xfrm>
            <a:off x="658440" y="6282000"/>
            <a:ext cx="10698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e6762"/>
                </a:solidFill>
                <a:latin typeface="Aptos"/>
                <a:ea typeface="Aptos"/>
              </a:rPr>
              <a:t>✓ </a:t>
            </a:r>
            <a:r>
              <a:rPr b="0" lang="en-US" sz="800" spc="-1" strike="noStrike">
                <a:solidFill>
                  <a:srgbClr val="6e6762"/>
                </a:solidFill>
                <a:latin typeface="Aptos"/>
                <a:ea typeface="Aptos"/>
              </a:rPr>
              <a:t>= clear capability  •  ~ = partial / adjacent capability  •  Public-positioning snapshot, not exhaustive.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89" name="Text 116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490" name="Text 117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491" name="PlaceHolder 1"/>
          <p:cNvSpPr>
            <a:spLocks noGrp="1"/>
          </p:cNvSpPr>
          <p:nvPr>
            <p:ph type="sldNum" idx="15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B91B684B-FDB7-4FC0-A767-2968B41828D8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&lt;number&gt;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493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11 • WHY HOMAATRI CAN WIN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Our advantage compounds on both sides of the network.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495" name="Shape 2"/>
          <p:cNvSpPr/>
          <p:nvPr/>
        </p:nvSpPr>
        <p:spPr>
          <a:xfrm>
            <a:off x="594360" y="1993320"/>
            <a:ext cx="3428640" cy="1965600"/>
          </a:xfrm>
          <a:prstGeom prst="roundRect">
            <a:avLst>
              <a:gd name="adj" fmla="val 3721"/>
            </a:avLst>
          </a:prstGeom>
          <a:solidFill>
            <a:srgbClr val="f5e8e0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6" name="Shape 3"/>
          <p:cNvSpPr/>
          <p:nvPr/>
        </p:nvSpPr>
        <p:spPr>
          <a:xfrm>
            <a:off x="594360" y="1993320"/>
            <a:ext cx="63720" cy="1965600"/>
          </a:xfrm>
          <a:prstGeom prst="rect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Text 4"/>
          <p:cNvSpPr/>
          <p:nvPr/>
        </p:nvSpPr>
        <p:spPr>
          <a:xfrm>
            <a:off x="758880" y="2130480"/>
            <a:ext cx="313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69" strike="noStrike">
                <a:solidFill>
                  <a:srgbClr val="d33313"/>
                </a:solidFill>
                <a:latin typeface="Aptos"/>
                <a:ea typeface="Aptos"/>
              </a:rPr>
              <a:t>SUPPLY-SIDE MOAT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8" name="Text 5"/>
          <p:cNvSpPr/>
          <p:nvPr/>
        </p:nvSpPr>
        <p:spPr>
          <a:xfrm>
            <a:off x="758880" y="2404800"/>
            <a:ext cx="31359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4211f"/>
                </a:solidFill>
                <a:latin typeface="Aptos"/>
                <a:ea typeface="Aptos"/>
              </a:rPr>
              <a:t>Homemaker brands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4211f"/>
                </a:solidFill>
                <a:latin typeface="Aptos"/>
                <a:ea typeface="Aptos"/>
              </a:rPr>
              <a:t>Content + reputation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4211f"/>
                </a:solidFill>
                <a:latin typeface="Aptos"/>
                <a:ea typeface="Aptos"/>
              </a:rPr>
              <a:t>Customer relationships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99" name="Shape 6"/>
          <p:cNvSpPr/>
          <p:nvPr/>
        </p:nvSpPr>
        <p:spPr>
          <a:xfrm>
            <a:off x="4380120" y="1993320"/>
            <a:ext cx="3428640" cy="1965600"/>
          </a:xfrm>
          <a:prstGeom prst="roundRect">
            <a:avLst>
              <a:gd name="adj" fmla="val 3721"/>
            </a:avLst>
          </a:prstGeom>
          <a:solidFill>
            <a:srgbClr val="eaf1ec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0" name="Shape 7"/>
          <p:cNvSpPr/>
          <p:nvPr/>
        </p:nvSpPr>
        <p:spPr>
          <a:xfrm>
            <a:off x="4380120" y="1993320"/>
            <a:ext cx="63720" cy="1965600"/>
          </a:xfrm>
          <a:prstGeom prst="rect">
            <a:avLst/>
          </a:prstGeom>
          <a:solidFill>
            <a:srgbClr val="4d6b57"/>
          </a:solidFill>
          <a:ln w="12700">
            <a:solidFill>
              <a:srgbClr val="4d6b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Text 8"/>
          <p:cNvSpPr/>
          <p:nvPr/>
        </p:nvSpPr>
        <p:spPr>
          <a:xfrm>
            <a:off x="4544640" y="2130480"/>
            <a:ext cx="313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69" strike="noStrike">
                <a:solidFill>
                  <a:srgbClr val="4d6b57"/>
                </a:solidFill>
                <a:latin typeface="Aptos"/>
                <a:ea typeface="Aptos"/>
              </a:rPr>
              <a:t>DEMAND-SIDE MOAT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2" name="Text 9"/>
          <p:cNvSpPr/>
          <p:nvPr/>
        </p:nvSpPr>
        <p:spPr>
          <a:xfrm>
            <a:off x="4544640" y="2404800"/>
            <a:ext cx="31359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4211f"/>
                </a:solidFill>
                <a:latin typeface="Aptos"/>
                <a:ea typeface="Aptos"/>
              </a:rPr>
              <a:t>Recurring customers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4211f"/>
                </a:solidFill>
                <a:latin typeface="Aptos"/>
                <a:ea typeface="Aptos"/>
              </a:rPr>
              <a:t>Predictable demand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4211f"/>
                </a:solidFill>
                <a:latin typeface="Aptos"/>
                <a:ea typeface="Aptos"/>
              </a:rPr>
              <a:t>Dense local routes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03" name="Shape 10"/>
          <p:cNvSpPr/>
          <p:nvPr/>
        </p:nvSpPr>
        <p:spPr>
          <a:xfrm>
            <a:off x="8165520" y="1993320"/>
            <a:ext cx="3428640" cy="1965600"/>
          </a:xfrm>
          <a:prstGeom prst="roundRect">
            <a:avLst>
              <a:gd name="adj" fmla="val 3721"/>
            </a:avLst>
          </a:prstGeom>
          <a:solidFill>
            <a:srgbClr val="edf0f5"/>
          </a:solidFill>
          <a:ln w="12700">
            <a:solidFill>
              <a:srgbClr val="d9d0ca"/>
            </a:solidFill>
            <a:round/>
          </a:ln>
          <a:effectLst>
            <a:outerShdw algn="bl" blurRad="12600" dir="2700000" dist="50402" kx="0" ky="0" rotWithShape="0" sx="100000" sy="100000">
              <a:srgbClr val="bdb6b1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4" name="Shape 11"/>
          <p:cNvSpPr/>
          <p:nvPr/>
        </p:nvSpPr>
        <p:spPr>
          <a:xfrm>
            <a:off x="8165520" y="1993320"/>
            <a:ext cx="63720" cy="1965600"/>
          </a:xfrm>
          <a:prstGeom prst="rect">
            <a:avLst/>
          </a:prstGeom>
          <a:solidFill>
            <a:srgbClr val="4d5f78"/>
          </a:solidFill>
          <a:ln w="12700">
            <a:solidFill>
              <a:srgbClr val="4d5f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Text 12"/>
          <p:cNvSpPr/>
          <p:nvPr/>
        </p:nvSpPr>
        <p:spPr>
          <a:xfrm>
            <a:off x="8330040" y="2130480"/>
            <a:ext cx="313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69" strike="noStrike">
                <a:solidFill>
                  <a:srgbClr val="4d5f78"/>
                </a:solidFill>
                <a:latin typeface="Aptos"/>
                <a:ea typeface="Aptos"/>
              </a:rPr>
              <a:t>OPERATING MOAT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6" name="Text 13"/>
          <p:cNvSpPr/>
          <p:nvPr/>
        </p:nvSpPr>
        <p:spPr>
          <a:xfrm>
            <a:off x="8330040" y="2404800"/>
            <a:ext cx="31359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4211f"/>
                </a:solidFill>
                <a:latin typeface="Aptos"/>
                <a:ea typeface="Aptos"/>
              </a:rPr>
              <a:t>Standards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4211f"/>
                </a:solidFill>
                <a:latin typeface="Aptos"/>
                <a:ea typeface="Aptos"/>
              </a:rPr>
              <a:t>Quality data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4211f"/>
                </a:solidFill>
                <a:latin typeface="Aptos"/>
                <a:ea typeface="Aptos"/>
              </a:rPr>
              <a:t>Better planning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4211f"/>
                </a:solidFill>
                <a:latin typeface="Aptos"/>
                <a:ea typeface="Aptos"/>
              </a:rPr>
              <a:t>Better service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07" name="Shape 14"/>
          <p:cNvSpPr/>
          <p:nvPr/>
        </p:nvSpPr>
        <p:spPr>
          <a:xfrm>
            <a:off x="914400" y="4800600"/>
            <a:ext cx="1874160" cy="731160"/>
          </a:xfrm>
          <a:prstGeom prst="ellipse">
            <a:avLst/>
          </a:prstGeom>
          <a:solidFill>
            <a:srgbClr val="4d6b57"/>
          </a:solidFill>
          <a:ln w="12700">
            <a:solidFill>
              <a:srgbClr val="4d6b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Text 15"/>
          <p:cNvSpPr/>
          <p:nvPr/>
        </p:nvSpPr>
        <p:spPr>
          <a:xfrm>
            <a:off x="1024200" y="502920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TRUST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9" name="Shape 16"/>
          <p:cNvSpPr/>
          <p:nvPr/>
        </p:nvSpPr>
        <p:spPr>
          <a:xfrm>
            <a:off x="3246120" y="4572000"/>
            <a:ext cx="1874160" cy="731160"/>
          </a:xfrm>
          <a:prstGeom prst="ellipse">
            <a:avLst/>
          </a:prstGeom>
          <a:solidFill>
            <a:srgbClr val="d33313"/>
          </a:solidFill>
          <a:ln w="12700">
            <a:solidFill>
              <a:srgbClr val="d3331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 17"/>
          <p:cNvSpPr/>
          <p:nvPr/>
        </p:nvSpPr>
        <p:spPr>
          <a:xfrm>
            <a:off x="3355920" y="480060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2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RECURRING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DEMAND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1" name="Shape 18"/>
          <p:cNvSpPr/>
          <p:nvPr/>
        </p:nvSpPr>
        <p:spPr>
          <a:xfrm>
            <a:off x="5806440" y="4572000"/>
            <a:ext cx="1874160" cy="731160"/>
          </a:xfrm>
          <a:prstGeom prst="ellipse">
            <a:avLst/>
          </a:prstGeom>
          <a:solidFill>
            <a:srgbClr val="4d5f78"/>
          </a:solidFill>
          <a:ln w="12700">
            <a:solidFill>
              <a:srgbClr val="4d5f7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2" name="Text 19"/>
          <p:cNvSpPr/>
          <p:nvPr/>
        </p:nvSpPr>
        <p:spPr>
          <a:xfrm>
            <a:off x="5916240" y="480060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2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ROUTE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DENSITY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3" name="Shape 20"/>
          <p:cNvSpPr/>
          <p:nvPr/>
        </p:nvSpPr>
        <p:spPr>
          <a:xfrm>
            <a:off x="8366760" y="4572000"/>
            <a:ext cx="1874160" cy="731160"/>
          </a:xfrm>
          <a:prstGeom prst="ellipse">
            <a:avLst/>
          </a:prstGeom>
          <a:solidFill>
            <a:srgbClr val="24211f"/>
          </a:solidFill>
          <a:ln w="12700">
            <a:solidFill>
              <a:srgbClr val="24211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Text 21"/>
          <p:cNvSpPr/>
          <p:nvPr/>
        </p:nvSpPr>
        <p:spPr>
          <a:xfrm>
            <a:off x="8476560" y="480060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2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BETTER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SERVICE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5" name="Shape 22"/>
          <p:cNvSpPr/>
          <p:nvPr/>
        </p:nvSpPr>
        <p:spPr>
          <a:xfrm flipV="1">
            <a:off x="2797920" y="4955760"/>
            <a:ext cx="356760" cy="219600"/>
          </a:xfrm>
          <a:prstGeom prst="line">
            <a:avLst/>
          </a:prstGeom>
          <a:ln w="2032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6" name="Shape 23"/>
          <p:cNvSpPr/>
          <p:nvPr/>
        </p:nvSpPr>
        <p:spPr>
          <a:xfrm>
            <a:off x="5129640" y="4937760"/>
            <a:ext cx="585360" cy="360"/>
          </a:xfrm>
          <a:prstGeom prst="line">
            <a:avLst/>
          </a:prstGeom>
          <a:ln w="2032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Shape 24"/>
          <p:cNvSpPr/>
          <p:nvPr/>
        </p:nvSpPr>
        <p:spPr>
          <a:xfrm>
            <a:off x="7689960" y="4937760"/>
            <a:ext cx="585360" cy="360"/>
          </a:xfrm>
          <a:prstGeom prst="line">
            <a:avLst/>
          </a:prstGeom>
          <a:ln w="2032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Shape 25"/>
          <p:cNvSpPr/>
          <p:nvPr/>
        </p:nvSpPr>
        <p:spPr>
          <a:xfrm>
            <a:off x="10195560" y="4937760"/>
            <a:ext cx="777240" cy="360"/>
          </a:xfrm>
          <a:prstGeom prst="line">
            <a:avLst/>
          </a:prstGeom>
          <a:ln w="2032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Text 26"/>
          <p:cNvSpPr/>
          <p:nvPr/>
        </p:nvSpPr>
        <p:spPr>
          <a:xfrm>
            <a:off x="1143000" y="573336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More customers make supply more predictable. More density makes the network more efficient.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20" name="Text 27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21" name="Text 28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22" name="PlaceHolder 1"/>
          <p:cNvSpPr>
            <a:spLocks noGrp="1"/>
          </p:cNvSpPr>
          <p:nvPr>
            <p:ph type="sldNum" idx="16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475E348A-3083-4656-84C1-1733FE275172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&lt;number&gt;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502920" y="32004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524" name="Text 0"/>
          <p:cNvSpPr/>
          <p:nvPr/>
        </p:nvSpPr>
        <p:spPr>
          <a:xfrm>
            <a:off x="1325880" y="3931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d33313"/>
                </a:solidFill>
                <a:latin typeface="Aptos"/>
                <a:ea typeface="Aptos"/>
              </a:rPr>
              <a:t>12 • BUILD PATH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25" name="Text 1"/>
          <p:cNvSpPr/>
          <p:nvPr/>
        </p:nvSpPr>
        <p:spPr>
          <a:xfrm>
            <a:off x="594360" y="84132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Start manually. Prove the tiffin model. Then scale the system.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526" name="Shape 2"/>
          <p:cNvSpPr/>
          <p:nvPr/>
        </p:nvSpPr>
        <p:spPr>
          <a:xfrm>
            <a:off x="594360" y="2011680"/>
            <a:ext cx="2486880" cy="3291480"/>
          </a:xfrm>
          <a:prstGeom prst="roundRect">
            <a:avLst>
              <a:gd name="adj" fmla="val 2941"/>
            </a:avLst>
          </a:prstGeom>
          <a:solidFill>
            <a:srgbClr val="f5e8e0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7" name="Text 3"/>
          <p:cNvSpPr/>
          <p:nvPr/>
        </p:nvSpPr>
        <p:spPr>
          <a:xfrm>
            <a:off x="777240" y="226764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77" strike="noStrike">
                <a:solidFill>
                  <a:srgbClr val="d33313"/>
                </a:solidFill>
                <a:latin typeface="Aptos"/>
                <a:ea typeface="Aptos"/>
              </a:rPr>
              <a:t>NOW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28" name="Text 4"/>
          <p:cNvSpPr/>
          <p:nvPr/>
        </p:nvSpPr>
        <p:spPr>
          <a:xfrm>
            <a:off x="777240" y="26974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PROVE THE TIFFIN MODEL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9" name="Text 5"/>
          <p:cNvSpPr/>
          <p:nvPr/>
        </p:nvSpPr>
        <p:spPr>
          <a:xfrm>
            <a:off x="777240" y="3456360"/>
            <a:ext cx="1965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4211f"/>
                </a:solidFill>
                <a:latin typeface="Aptos"/>
                <a:ea typeface="Aptos"/>
              </a:rPr>
              <a:t>Small cohort of homemakers; recurring lunch/dinner customers; standards; delivery.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530" name="Shape 6"/>
          <p:cNvSpPr/>
          <p:nvPr/>
        </p:nvSpPr>
        <p:spPr>
          <a:xfrm>
            <a:off x="3117960" y="3657600"/>
            <a:ext cx="265320" cy="360"/>
          </a:xfrm>
          <a:prstGeom prst="line">
            <a:avLst/>
          </a:prstGeom>
          <a:ln w="2286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31" name="Shape 7"/>
          <p:cNvSpPr/>
          <p:nvPr/>
        </p:nvSpPr>
        <p:spPr>
          <a:xfrm>
            <a:off x="3410640" y="2011680"/>
            <a:ext cx="2486880" cy="3291480"/>
          </a:xfrm>
          <a:prstGeom prst="roundRect">
            <a:avLst>
              <a:gd name="adj" fmla="val 2941"/>
            </a:avLst>
          </a:prstGeom>
          <a:solidFill>
            <a:srgbClr val="eaf1ec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Text 8"/>
          <p:cNvSpPr/>
          <p:nvPr/>
        </p:nvSpPr>
        <p:spPr>
          <a:xfrm>
            <a:off x="3593520" y="226764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77" strike="noStrike">
                <a:solidFill>
                  <a:srgbClr val="4d6b57"/>
                </a:solidFill>
                <a:latin typeface="Aptos"/>
                <a:ea typeface="Aptos"/>
              </a:rPr>
              <a:t>NEXT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33" name="Text 9"/>
          <p:cNvSpPr/>
          <p:nvPr/>
        </p:nvSpPr>
        <p:spPr>
          <a:xfrm>
            <a:off x="3593520" y="26974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BUILD ROUTE DENSITY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4" name="Text 10"/>
          <p:cNvSpPr/>
          <p:nvPr/>
        </p:nvSpPr>
        <p:spPr>
          <a:xfrm>
            <a:off x="3593520" y="3456360"/>
            <a:ext cx="1965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4211f"/>
                </a:solidFill>
                <a:latin typeface="Aptos"/>
                <a:ea typeface="Aptos"/>
              </a:rPr>
              <a:t>Increase customers per homemaker and customers per delivery route.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535" name="Shape 11"/>
          <p:cNvSpPr/>
          <p:nvPr/>
        </p:nvSpPr>
        <p:spPr>
          <a:xfrm>
            <a:off x="5934240" y="3657600"/>
            <a:ext cx="265320" cy="360"/>
          </a:xfrm>
          <a:prstGeom prst="line">
            <a:avLst/>
          </a:prstGeom>
          <a:ln w="2286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36" name="Shape 12"/>
          <p:cNvSpPr/>
          <p:nvPr/>
        </p:nvSpPr>
        <p:spPr>
          <a:xfrm>
            <a:off x="6226920" y="2011680"/>
            <a:ext cx="2486880" cy="3291480"/>
          </a:xfrm>
          <a:prstGeom prst="roundRect">
            <a:avLst>
              <a:gd name="adj" fmla="val 2941"/>
            </a:avLst>
          </a:prstGeom>
          <a:solidFill>
            <a:srgbClr val="edf0f5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Text 13"/>
          <p:cNvSpPr/>
          <p:nvPr/>
        </p:nvSpPr>
        <p:spPr>
          <a:xfrm>
            <a:off x="6409800" y="226764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77" strike="noStrike">
                <a:solidFill>
                  <a:srgbClr val="4d5f78"/>
                </a:solidFill>
                <a:latin typeface="Aptos"/>
                <a:ea typeface="Aptos"/>
              </a:rPr>
              <a:t>THEN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38" name="Text 14"/>
          <p:cNvSpPr/>
          <p:nvPr/>
        </p:nvSpPr>
        <p:spPr>
          <a:xfrm>
            <a:off x="6409800" y="26974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SCALE NEIGHBORHOOD BY NEIGHBORHOOD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9" name="Text 15"/>
          <p:cNvSpPr/>
          <p:nvPr/>
        </p:nvSpPr>
        <p:spPr>
          <a:xfrm>
            <a:off x="6409800" y="3456360"/>
            <a:ext cx="1965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4211f"/>
                </a:solidFill>
                <a:latin typeface="Aptos"/>
                <a:ea typeface="Aptos"/>
              </a:rPr>
              <a:t>More kitchens + recurring customers + stronger supply density.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540" name="Shape 16"/>
          <p:cNvSpPr/>
          <p:nvPr/>
        </p:nvSpPr>
        <p:spPr>
          <a:xfrm>
            <a:off x="8750520" y="3657600"/>
            <a:ext cx="265320" cy="360"/>
          </a:xfrm>
          <a:prstGeom prst="line">
            <a:avLst/>
          </a:prstGeom>
          <a:ln w="22860">
            <a:solidFill>
              <a:srgbClr val="d9d0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Shape 17"/>
          <p:cNvSpPr/>
          <p:nvPr/>
        </p:nvSpPr>
        <p:spPr>
          <a:xfrm>
            <a:off x="9043560" y="2011680"/>
            <a:ext cx="2486880" cy="3291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d0c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Text 18"/>
          <p:cNvSpPr/>
          <p:nvPr/>
        </p:nvSpPr>
        <p:spPr>
          <a:xfrm>
            <a:off x="9226440" y="226764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77" strike="noStrike">
                <a:solidFill>
                  <a:srgbClr val="24211f"/>
                </a:solidFill>
                <a:latin typeface="Aptos"/>
                <a:ea typeface="Aptos"/>
              </a:rPr>
              <a:t>LATER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43" name="Text 19"/>
          <p:cNvSpPr/>
          <p:nvPr/>
        </p:nvSpPr>
        <p:spPr>
          <a:xfrm>
            <a:off x="9226440" y="26974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4211f"/>
                </a:solidFill>
                <a:latin typeface="Aptos Display"/>
                <a:ea typeface="Aptos Display"/>
              </a:rPr>
              <a:t>AUTOMATE &amp; DEEPEN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44" name="Text 20"/>
          <p:cNvSpPr/>
          <p:nvPr/>
        </p:nvSpPr>
        <p:spPr>
          <a:xfrm>
            <a:off x="9226440" y="3456360"/>
            <a:ext cx="1965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24211f"/>
                </a:solidFill>
                <a:latin typeface="Aptos"/>
                <a:ea typeface="Aptos"/>
              </a:rPr>
              <a:t>Business tools, analytics, forecasting, financial tools and content automation.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545" name="Text 21"/>
          <p:cNvSpPr/>
          <p:nvPr/>
        </p:nvSpPr>
        <p:spPr>
          <a:xfrm>
            <a:off x="1188720" y="5715000"/>
            <a:ext cx="9783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80" spc="-1" strike="noStrike">
                <a:solidFill>
                  <a:srgbClr val="6e6762"/>
                </a:solidFill>
                <a:latin typeface="Aptos"/>
                <a:ea typeface="Aptos"/>
              </a:rPr>
              <a:t>We are deliberately not locking a final monetization model yet. First we prove what creates the most value for homemakers and customers.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546" name="Text 22"/>
          <p:cNvSpPr/>
          <p:nvPr/>
        </p:nvSpPr>
        <p:spPr>
          <a:xfrm>
            <a:off x="9464040" y="64281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" spc="77" strike="noStrike">
                <a:solidFill>
                  <a:srgbClr val="d33313"/>
                </a:solidFill>
                <a:latin typeface="Aptos"/>
                <a:ea typeface="Aptos"/>
              </a:rPr>
              <a:t>YOUR KITCHEN, YOUR BUSINESS.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47" name="Text 23"/>
          <p:cNvSpPr/>
          <p:nvPr/>
        </p:nvSpPr>
        <p:spPr>
          <a:xfrm>
            <a:off x="594360" y="642816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6e6762"/>
                </a:solidFill>
                <a:latin typeface="Aptos"/>
                <a:ea typeface="Aptos"/>
              </a:rPr>
              <a:t>HOMAATRI • CONFIDENTIAL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48" name="PlaceHolder 1"/>
          <p:cNvSpPr>
            <a:spLocks noGrp="1"/>
          </p:cNvSpPr>
          <p:nvPr>
            <p:ph type="sldNum" idx="17"/>
          </p:nvPr>
        </p:nvSpPr>
        <p:spPr>
          <a:xfrm>
            <a:off x="11475720" y="65106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800" spc="-1" strike="noStrike">
                <a:solidFill>
                  <a:srgbClr val="77706a"/>
                </a:solidFill>
                <a:latin typeface="Aptos"/>
                <a:ea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fld id="{FDEBC96D-7D17-4FA3-A892-4FE539D63287}" type="slidenum">
              <a:rPr b="0" lang="en-US" sz="800" spc="-1" strike="noStrike">
                <a:solidFill>
                  <a:srgbClr val="77706a"/>
                </a:solidFill>
                <a:latin typeface="Aptos"/>
                <a:ea typeface="Aptos"/>
              </a:rPr>
              <a:t>&lt;number&gt;</a:t>
            </a:fld>
            <a:endParaRPr b="0" lang="en-IN" sz="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3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Image 0" descr="/mnt/data/photo_2026-08-09_16-12-35.jpg"/>
          <p:cNvPicPr/>
          <p:nvPr/>
        </p:nvPicPr>
        <p:blipFill>
          <a:blip r:embed="rId1"/>
          <a:stretch/>
        </p:blipFill>
        <p:spPr>
          <a:xfrm>
            <a:off x="777240" y="914400"/>
            <a:ext cx="1599840" cy="1599840"/>
          </a:xfrm>
          <a:prstGeom prst="rect">
            <a:avLst/>
          </a:prstGeom>
          <a:ln w="0">
            <a:noFill/>
          </a:ln>
        </p:spPr>
      </p:pic>
      <p:sp>
        <p:nvSpPr>
          <p:cNvPr id="550" name="Text 0"/>
          <p:cNvSpPr/>
          <p:nvPr/>
        </p:nvSpPr>
        <p:spPr>
          <a:xfrm>
            <a:off x="2788920" y="114300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17" strike="noStrike">
                <a:solidFill>
                  <a:srgbClr val="fce9e1"/>
                </a:solidFill>
                <a:latin typeface="Aptos"/>
                <a:ea typeface="Aptos"/>
              </a:rPr>
              <a:t>VISION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51" name="Text 1"/>
          <p:cNvSpPr/>
          <p:nvPr/>
        </p:nvSpPr>
        <p:spPr>
          <a:xfrm>
            <a:off x="2788920" y="1627560"/>
            <a:ext cx="81378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Make trusted home food part of everyday life — and turn home kitchens into thriving local businesses.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552" name="Text 2"/>
          <p:cNvSpPr/>
          <p:nvPr/>
        </p:nvSpPr>
        <p:spPr>
          <a:xfrm>
            <a:off x="2788920" y="333756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89" strike="noStrike">
                <a:solidFill>
                  <a:srgbClr val="fce9e1"/>
                </a:solidFill>
                <a:latin typeface="Aptos"/>
                <a:ea typeface="Aptos"/>
              </a:rPr>
              <a:t>HOW WE GET THERE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53" name="Text 3"/>
          <p:cNvSpPr/>
          <p:nvPr/>
        </p:nvSpPr>
        <p:spPr>
          <a:xfrm>
            <a:off x="2788920" y="3703320"/>
            <a:ext cx="46630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Recurring meals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Trusted standards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Dense local delivery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Aptos"/>
                <a:ea typeface="Aptos"/>
              </a:rPr>
              <a:t>Homemaker-first business support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54" name="Shape 4"/>
          <p:cNvSpPr/>
          <p:nvPr/>
        </p:nvSpPr>
        <p:spPr>
          <a:xfrm>
            <a:off x="7406640" y="3675600"/>
            <a:ext cx="2743200" cy="360"/>
          </a:xfrm>
          <a:prstGeom prst="line">
            <a:avLst/>
          </a:prstGeom>
          <a:ln w="12700">
            <a:solidFill>
              <a:srgbClr val="f7d8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5" name="Text 5"/>
          <p:cNvSpPr/>
          <p:nvPr/>
        </p:nvSpPr>
        <p:spPr>
          <a:xfrm>
            <a:off x="7406640" y="396864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89" strike="noStrike">
                <a:solidFill>
                  <a:srgbClr val="ffffff"/>
                </a:solidFill>
                <a:latin typeface="Aptos"/>
                <a:ea typeface="Aptos"/>
              </a:rPr>
              <a:t>ACHHA KHAO. GHAR KA KHAO.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56" name="Text 6"/>
          <p:cNvSpPr/>
          <p:nvPr/>
        </p:nvSpPr>
        <p:spPr>
          <a:xfrm>
            <a:off x="7406640" y="4370760"/>
            <a:ext cx="2971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YOUR KITCHEN, YOUR BUSINESS.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57" name="Text 7"/>
          <p:cNvSpPr/>
          <p:nvPr/>
        </p:nvSpPr>
        <p:spPr>
          <a:xfrm>
            <a:off x="2788920" y="5650920"/>
            <a:ext cx="7223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From trusted home kitchens to trusted local food brands.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58" name="Text 8"/>
          <p:cNvSpPr/>
          <p:nvPr/>
        </p:nvSpPr>
        <p:spPr>
          <a:xfrm>
            <a:off x="2788920" y="623628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fce9e1"/>
                </a:solidFill>
                <a:latin typeface="Aptos"/>
                <a:ea typeface="Aptos"/>
              </a:rPr>
              <a:t>HOMAATRI • INVESTOR PITCH DECK • 2026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  <Words>0</Words>
  <Paragraphs>0</Paragraphs>
  <Company>Homaatri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2026-08-22T11:35:24Z</dcterms:created>
  <dc:creator>Homaatri</dc:creator>
  <dc:description/>
  <dc:language>en-IN</dc:language>
  <cp:lastModifiedBy/>
  <dcterms:modified xsi:type="dcterms:W3CDTF">2026-08-22T17:16:38Z</dcterms:modified>
  <cp:revision>2</cp:revision>
  <dc:subject>Investor Pitch Deck</dc:subject>
  <dc:title>Homaatri — Investor Pitch Deck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